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74" d="100"/>
          <a:sy n="74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thesis: IDBLOOM helps homemakers translate daily work into recognized identity and market opportunities.</a:t>
            </a:r>
          </a:p>
          <a:p>
            <a:r>
              <a:t>[Sources] README.md; original prompt;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problem: homemakers are not lacking ability; their work lacks market translation.</a:t>
            </a:r>
          </a:p>
          <a:p>
            <a:r>
              <a:t>[Sources] README.md; original prompt;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flow: daily input -&gt; skill extraction -&gt; Identity Passport -&gt; Demand Delivery.</a:t>
            </a:r>
          </a:p>
          <a:p>
            <a:r>
              <a:t>[Sources] README.md; original prompt;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story: kitchen reset example used to show skill extraction and local demand packaging.</a:t>
            </a:r>
          </a:p>
          <a:p>
            <a:r>
              <a:t>[Sources] README.md; presentation/assets/idbloom-kitchen.png;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Market routing: one identity passport can support content, products, offline services, and knowledge services.</a:t>
            </a:r>
          </a:p>
          <a:p>
            <a:r>
              <a:t>[Sources] README.md;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Comparison: other fields already monetize personal uniqueness; homemakers need identity translation.</a:t>
            </a:r>
          </a:p>
          <a:p>
            <a:r>
              <a:t>[Sources] README.md;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and trust: user value, platform revenue, validation KPIs, and privacy safeguards.</a:t>
            </a:r>
          </a:p>
          <a:p>
            <a:r>
              <a:t>[Sources] README.md;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claim: AI should reveal hidden labor value, not only replace labor.</a:t>
            </a:r>
          </a:p>
          <a:p>
            <a:r>
              <a:t>[Sources] README.md; presentation/assets/idbloom-demand-output.png;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acknowledgement: transparency page based on competition requirement and team AI usage statement.</a:t>
            </a:r>
          </a:p>
          <a:p>
            <a:r>
              <a:t>[Sources] README.md; user-provided acknowledgement reference image; IDBLOOM_frontend_slides.html.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66019E5-334E-481B-98F0-DC365356B6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EE6E4B-10DF-418F-9FB0-5CF6CE3F838E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6C39FC1-FA7A-4F22-ABDD-654F0C87C06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016C38E-B111-43F9-84C2-2FFD368DE8F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C85543E-DEF2-4E2B-8682-E31FC49A963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A1DC084-F590-4027-AD96-BC2AD2621B7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5239B88-D479-45D8-BE96-F0DD17A8481E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4CF3939-9C4A-4690-9FF8-371069AF181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01FC1CF-F8D3-4635-A088-848FA034FD75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9DA95BE-A418-4984-9D3A-EA5911797564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E61B57A-EE05-41C9-95BD-E04DC857DBAC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63013E0-F0E7-4230-B4AB-82BC40FEF1DC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B4AFACF-E3CC-4F34-9A4A-4E194DC77900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E884B9A-5FB8-4EAE-AD80-2EFE503D1A8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3B01007-42E2-4E63-8918-DA8514E60E6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5235995-9C91-4D18-AD20-2E10DD01AB2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B9C9DBC-1E79-403F-91B1-2AC93B9A2DA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B1CEEFF-C865-4C65-90AA-A4DE3838D5DE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CBAAC5B-0991-47D1-9F67-1219DF6B590D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EB297F-565A-4AA6-931C-30E627372528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8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Topic 3 / Labor Identity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A732F-C883-40B1-B0D2-5E7BD69276A1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239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158" lnSpcReduction="10000"/>
          </a:bodyPr>
          <a:lstStyle/>
          <a:p>
            <a:pPr algn="l">
              <a:lnSpc>
                <a:spcPct val="86000"/>
              </a:lnSpc>
              <a:buNone/>
              <a:defRPr sz="11250" b="1" i="0">
                <a:solidFill>
                  <a:srgbClr val="1F2423"/>
                </a:solidFill>
              </a:defRPr>
            </a:pPr>
            <a:r>
              <a:rPr sz="11250" b="1" dirty="0">
                <a:solidFill>
                  <a:srgbClr val="1F2423"/>
                </a:solidFill>
              </a:rPr>
              <a:t>IDBLOOM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9280F0-CF00-4B04-86F1-0EFF22168C25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8001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8"/>
          </a:bodyPr>
          <a:lstStyle/>
          <a:p>
            <a:pPr algn="l">
              <a:lnSpc>
                <a:spcPct val="104000"/>
              </a:lnSpc>
              <a:buNone/>
              <a:defRPr sz="3600" b="1" i="0">
                <a:solidFill>
                  <a:srgbClr val="5E6966"/>
                </a:solidFill>
              </a:defRPr>
            </a:pPr>
            <a:r>
              <a:rPr sz="3600" b="1" i="0">
                <a:solidFill>
                  <a:srgbClr val="5E6966"/>
                </a:solidFill>
              </a:rPr>
              <a:t>Turning invisible home expertise into visible economic value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A22F91-9D40-431E-85EB-AC1042D6FAD3}"/>
              </a:ext>
            </a:extLst>
          </p:cNvPr>
          <p:cNvSpPr>
            <a:spLocks noGrp="1"/>
          </p:cNvSpPr>
          <p:nvPr/>
        </p:nvSpPr>
        <p:spPr>
          <a:xfrm>
            <a:off x="990600" y="6115050"/>
            <a:ext cx="66675" cy="742950"/>
          </a:xfrm>
          <a:prstGeom prst="rect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9B806CE-331B-4166-B035-27066C307B1D}"/>
              </a:ext>
            </a:extLst>
          </p:cNvPr>
          <p:cNvSpPr>
            <a:spLocks noGrp="1"/>
          </p:cNvSpPr>
          <p:nvPr/>
        </p:nvSpPr>
        <p:spPr>
          <a:xfrm>
            <a:off x="1123950" y="6115050"/>
            <a:ext cx="7867650" cy="742950"/>
          </a:xfrm>
          <a:prstGeom prst="roundRect">
            <a:avLst>
              <a:gd name="adj" fmla="val 10256"/>
            </a:avLst>
          </a:prstGeom>
          <a:solidFill>
            <a:srgbClr val="FFF2C7"/>
          </a:solidFill>
          <a:ln w="9525">
            <a:solidFill>
              <a:srgbClr val="EADBA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C408A4-B249-413E-8606-A84ABF2009F5}"/>
              </a:ext>
            </a:extLst>
          </p:cNvPr>
          <p:cNvSpPr>
            <a:spLocks noGrp="1"/>
          </p:cNvSpPr>
          <p:nvPr/>
        </p:nvSpPr>
        <p:spPr>
          <a:xfrm>
            <a:off x="1428750" y="6296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335"/>
          </a:bodyPr>
          <a:lstStyle/>
          <a:p>
            <a:pPr algn="l">
              <a:lnSpc>
                <a:spcPct val="112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From unpaid homemaker to Household Operations Specialist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183AC9F-F46F-4736-A562-C72843890689}"/>
              </a:ext>
            </a:extLst>
          </p:cNvPr>
          <p:cNvSpPr>
            <a:spLocks noGrp="1"/>
          </p:cNvSpPr>
          <p:nvPr/>
        </p:nvSpPr>
        <p:spPr>
          <a:xfrm>
            <a:off x="9715500" y="1524000"/>
            <a:ext cx="7620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CBD57011-973D-4159-998D-CD3801864E8D}"/>
              </a:ext>
            </a:extLst>
          </p:cNvPr>
          <p:cNvSpPr>
            <a:spLocks noGrp="1"/>
          </p:cNvSpPr>
          <p:nvPr/>
        </p:nvSpPr>
        <p:spPr>
          <a:xfrm>
            <a:off x="9953625" y="20478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F27D0F5E-3C90-4F0C-B2C8-F8FCF34179B7}"/>
              </a:ext>
            </a:extLst>
          </p:cNvPr>
          <p:cNvSpPr>
            <a:spLocks noGrp="1"/>
          </p:cNvSpPr>
          <p:nvPr/>
        </p:nvSpPr>
        <p:spPr>
          <a:xfrm>
            <a:off x="9953625" y="260032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9EFC3BE-2BA2-47B2-BD27-347EB988CB5B}"/>
              </a:ext>
            </a:extLst>
          </p:cNvPr>
          <p:cNvSpPr>
            <a:spLocks noGrp="1"/>
          </p:cNvSpPr>
          <p:nvPr/>
        </p:nvSpPr>
        <p:spPr>
          <a:xfrm>
            <a:off x="9953625" y="31527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C16A6EF-79D6-4668-89A3-E95C335A3FAB}"/>
              </a:ext>
            </a:extLst>
          </p:cNvPr>
          <p:cNvSpPr>
            <a:spLocks noGrp="1"/>
          </p:cNvSpPr>
          <p:nvPr/>
        </p:nvSpPr>
        <p:spPr>
          <a:xfrm>
            <a:off x="9953625" y="370522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FCCEB16-FF9C-4BAF-9D4E-6E80AE57B842}"/>
              </a:ext>
            </a:extLst>
          </p:cNvPr>
          <p:cNvSpPr>
            <a:spLocks noGrp="1"/>
          </p:cNvSpPr>
          <p:nvPr/>
        </p:nvSpPr>
        <p:spPr>
          <a:xfrm>
            <a:off x="9953625" y="42576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38B68481-01D1-4C0C-B3A7-C29A4D2DE970}"/>
              </a:ext>
            </a:extLst>
          </p:cNvPr>
          <p:cNvSpPr>
            <a:spLocks noGrp="1"/>
          </p:cNvSpPr>
          <p:nvPr/>
        </p:nvSpPr>
        <p:spPr>
          <a:xfrm>
            <a:off x="9953625" y="481012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C701E94F-0BB6-40C2-B041-77B4556685C6}"/>
              </a:ext>
            </a:extLst>
          </p:cNvPr>
          <p:cNvSpPr>
            <a:spLocks noGrp="1"/>
          </p:cNvSpPr>
          <p:nvPr/>
        </p:nvSpPr>
        <p:spPr>
          <a:xfrm>
            <a:off x="9953625" y="53625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C2EBD38C-B032-43C9-A8D5-F5F5081D29CD}"/>
              </a:ext>
            </a:extLst>
          </p:cNvPr>
          <p:cNvSpPr>
            <a:spLocks noGrp="1"/>
          </p:cNvSpPr>
          <p:nvPr/>
        </p:nvSpPr>
        <p:spPr>
          <a:xfrm>
            <a:off x="9953625" y="591502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4773E092-4EF1-4CDA-B742-20E21DDC8255}"/>
              </a:ext>
            </a:extLst>
          </p:cNvPr>
          <p:cNvSpPr>
            <a:spLocks noGrp="1"/>
          </p:cNvSpPr>
          <p:nvPr/>
        </p:nvSpPr>
        <p:spPr>
          <a:xfrm>
            <a:off x="9953625" y="64674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9B3DB1D3-BC25-4857-B50F-4EDDFC586872}"/>
              </a:ext>
            </a:extLst>
          </p:cNvPr>
          <p:cNvSpPr>
            <a:spLocks noGrp="1"/>
          </p:cNvSpPr>
          <p:nvPr/>
        </p:nvSpPr>
        <p:spPr>
          <a:xfrm>
            <a:off x="9953625" y="701992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DFFC2470-F044-4105-9814-4311B9B686BA}"/>
              </a:ext>
            </a:extLst>
          </p:cNvPr>
          <p:cNvSpPr>
            <a:spLocks noGrp="1"/>
          </p:cNvSpPr>
          <p:nvPr/>
        </p:nvSpPr>
        <p:spPr>
          <a:xfrm>
            <a:off x="9953625" y="7572375"/>
            <a:ext cx="695325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408D0A3-676C-40F6-BFC6-3237FCC5C6A4}"/>
              </a:ext>
            </a:extLst>
          </p:cNvPr>
          <p:cNvSpPr>
            <a:spLocks noGrp="1"/>
          </p:cNvSpPr>
          <p:nvPr/>
        </p:nvSpPr>
        <p:spPr>
          <a:xfrm>
            <a:off x="10915650" y="2628900"/>
            <a:ext cx="4914900" cy="3829050"/>
          </a:xfrm>
          <a:prstGeom prst="roundRect">
            <a:avLst>
              <a:gd name="adj" fmla="val 1990"/>
            </a:avLst>
          </a:prstGeom>
          <a:solidFill>
            <a:srgbClr val="F7FBFA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99B84B-F33D-46D6-9ADA-72410BB5AC4A}"/>
              </a:ext>
            </a:extLst>
          </p:cNvPr>
          <p:cNvSpPr>
            <a:spLocks noGrp="1"/>
          </p:cNvSpPr>
          <p:nvPr/>
        </p:nvSpPr>
        <p:spPr>
          <a:xfrm>
            <a:off x="11430000" y="3429000"/>
            <a:ext cx="2000250" cy="1524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4EE450-E5AA-4CBC-9591-C72173CE5B27}"/>
              </a:ext>
            </a:extLst>
          </p:cNvPr>
          <p:cNvSpPr>
            <a:spLocks noGrp="1"/>
          </p:cNvSpPr>
          <p:nvPr/>
        </p:nvSpPr>
        <p:spPr>
          <a:xfrm>
            <a:off x="11430000" y="4133850"/>
            <a:ext cx="3143250" cy="1524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4F1EF7-CB8A-4C45-9EA2-D9BA20D0F584}"/>
              </a:ext>
            </a:extLst>
          </p:cNvPr>
          <p:cNvSpPr>
            <a:spLocks noGrp="1"/>
          </p:cNvSpPr>
          <p:nvPr/>
        </p:nvSpPr>
        <p:spPr>
          <a:xfrm>
            <a:off x="11430000" y="4838700"/>
            <a:ext cx="2571750" cy="1524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2C6650-EE85-45B7-B9B3-AA7892E3008F}"/>
              </a:ext>
            </a:extLst>
          </p:cNvPr>
          <p:cNvSpPr>
            <a:spLocks noGrp="1"/>
          </p:cNvSpPr>
          <p:nvPr/>
        </p:nvSpPr>
        <p:spPr>
          <a:xfrm>
            <a:off x="13906500" y="3286125"/>
            <a:ext cx="1200150" cy="1200150"/>
          </a:xfrm>
          <a:prstGeom prst="ellipse">
            <a:avLst/>
          </a:prstGeom>
          <a:noFill/>
          <a:ln w="171450">
            <a:solidFill>
              <a:srgbClr val="168265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BC3AA2F-6DF4-490F-95A4-60DA38DE5952}"/>
              </a:ext>
            </a:extLst>
          </p:cNvPr>
          <p:cNvSpPr>
            <a:spLocks noGrp="1"/>
          </p:cNvSpPr>
          <p:nvPr/>
        </p:nvSpPr>
        <p:spPr>
          <a:xfrm>
            <a:off x="15240000" y="2114550"/>
            <a:ext cx="1638300" cy="1638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8F5D1E-56A2-4168-91E1-F046A60FACDE}"/>
              </a:ext>
            </a:extLst>
          </p:cNvPr>
          <p:cNvSpPr>
            <a:spLocks noGrp="1"/>
          </p:cNvSpPr>
          <p:nvPr/>
        </p:nvSpPr>
        <p:spPr>
          <a:xfrm>
            <a:off x="15411450" y="2543175"/>
            <a:ext cx="1295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826"/>
          </a:bodyPr>
          <a:lstStyle/>
          <a:p>
            <a:pPr algn="ctr">
              <a:lnSpc>
                <a:spcPct val="112000"/>
              </a:lnSpc>
              <a:buNone/>
              <a:defRPr sz="1800" b="1" i="0">
                <a:solidFill>
                  <a:srgbClr val="138AA0"/>
                </a:solidFill>
              </a:defRPr>
            </a:pPr>
            <a:r>
              <a:rPr sz="1800" b="1" i="0">
                <a:solidFill>
                  <a:srgbClr val="138AA0"/>
                </a:solidFill>
              </a:rPr>
              <a:t>Inner</a:t>
            </a:r>
          </a:p>
          <a:p>
            <a:pPr algn="ctr">
              <a:lnSpc>
                <a:spcPct val="112000"/>
              </a:lnSpc>
              <a:buNone/>
              <a:defRPr sz="1800" b="1" i="0">
                <a:solidFill>
                  <a:srgbClr val="138AA0"/>
                </a:solidFill>
              </a:defRPr>
            </a:pPr>
            <a:r>
              <a:rPr sz="1800" b="1" i="0">
                <a:solidFill>
                  <a:srgbClr val="138AA0"/>
                </a:solidFill>
              </a:rPr>
              <a:t>Identity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1081549-E532-404C-BC85-9C48B2B365AF}"/>
              </a:ext>
            </a:extLst>
          </p:cNvPr>
          <p:cNvSpPr>
            <a:spLocks noGrp="1"/>
          </p:cNvSpPr>
          <p:nvPr/>
        </p:nvSpPr>
        <p:spPr>
          <a:xfrm>
            <a:off x="14649450" y="6477000"/>
            <a:ext cx="1638300" cy="1638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C15CBAF-89B5-48C5-8490-58B8C2123C54}"/>
              </a:ext>
            </a:extLst>
          </p:cNvPr>
          <p:cNvSpPr>
            <a:spLocks noGrp="1"/>
          </p:cNvSpPr>
          <p:nvPr/>
        </p:nvSpPr>
        <p:spPr>
          <a:xfrm>
            <a:off x="14820900" y="6905625"/>
            <a:ext cx="1295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826"/>
          </a:bodyPr>
          <a:lstStyle/>
          <a:p>
            <a:pPr algn="ctr">
              <a:lnSpc>
                <a:spcPct val="112000"/>
              </a:lnSpc>
              <a:buNone/>
              <a:defRPr sz="1800" b="1" i="0">
                <a:solidFill>
                  <a:srgbClr val="C9901C"/>
                </a:solidFill>
              </a:defRPr>
            </a:pPr>
            <a:r>
              <a:rPr sz="1800" b="1" i="0">
                <a:solidFill>
                  <a:srgbClr val="C9901C"/>
                </a:solidFill>
              </a:rPr>
              <a:t>Demand</a:t>
            </a:r>
          </a:p>
          <a:p>
            <a:pPr algn="ctr">
              <a:lnSpc>
                <a:spcPct val="112000"/>
              </a:lnSpc>
              <a:buNone/>
              <a:defRPr sz="1800" b="1" i="0">
                <a:solidFill>
                  <a:srgbClr val="C9901C"/>
                </a:solidFill>
              </a:defRPr>
            </a:pPr>
            <a:r>
              <a:rPr sz="1800" b="1" i="0">
                <a:solidFill>
                  <a:srgbClr val="C9901C"/>
                </a:solidFill>
              </a:rPr>
              <a:t>Delivery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BFC8C35-6123-4D3F-B8D5-1C8E008F56A2}"/>
              </a:ext>
            </a:extLst>
          </p:cNvPr>
          <p:cNvSpPr>
            <a:spLocks noGrp="1"/>
          </p:cNvSpPr>
          <p:nvPr/>
        </p:nvSpPr>
        <p:spPr>
          <a:xfrm>
            <a:off x="10572750" y="7067550"/>
            <a:ext cx="1638300" cy="1638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BE1158-5CD9-4924-94A0-36BA596012FA}"/>
              </a:ext>
            </a:extLst>
          </p:cNvPr>
          <p:cNvSpPr>
            <a:spLocks noGrp="1"/>
          </p:cNvSpPr>
          <p:nvPr/>
        </p:nvSpPr>
        <p:spPr>
          <a:xfrm>
            <a:off x="10744200" y="7496175"/>
            <a:ext cx="1295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826"/>
          </a:bodyPr>
          <a:lstStyle/>
          <a:p>
            <a:pPr algn="ctr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Market</a:t>
            </a:r>
          </a:p>
          <a:p>
            <a:pPr algn="ctr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Value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80C05BAD-D9B4-4A97-AC26-8300FEB39AE6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CB2133-0E0C-4555-BC08-AD16F9754B86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IDBLOOM / BPA Topic 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1F5268-38A7-4093-85B2-E57A8DA2E607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0:00-0:35 / 01</a:t>
            </a:r>
          </a:p>
        </p:txBody>
      </p:sp>
    </p:spTree>
    <p:extLst>
      <p:ext uri="{BB962C8B-B14F-4D97-AF65-F5344CB8AC3E}">
        <p14:creationId xmlns:p14="http://schemas.microsoft.com/office/powerpoint/2010/main" val="214733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0694E01-5C35-44D1-9E52-B1C19B9F83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77376-DD73-4F59-9A68-2A96C365E407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07976EE-1E06-4BC0-AE33-0E21A3991753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B115CDD-53D4-4A3A-BFFE-091E09CCFBF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B868201-2068-4283-BFC4-6437A0049045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7F7F61C-7F8F-40EB-A38E-0252520E3FB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3DE62C1-CABB-4190-893E-D47BEF559064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40C118C-0D7F-4F6E-BE2F-E5B128F3D7E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99EB324-F2DD-4BDA-A004-6FC39059CFEC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4C37AF3-B33C-4D3D-B5AB-FF24172875D5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E1E4F49-15E0-4756-A2AD-355B9D153AA3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683FA1F-D123-430E-827C-C2519364B38B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A1BFE4A-E5E8-4A7E-9777-547CDD38B7B9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4E51353-CF65-45B6-8FFD-0242B7545BF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D84E1AF-1909-4E38-907C-53B3233D0C5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A211BF2-BEDF-4BB2-868D-BC46AAA7A65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AB1B22D-C264-41DC-9180-6929E1AA40F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899C05D-704F-4E46-ADC9-BE6ECF911DE3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75528D5-80F3-4C21-ACD0-AF13CC293502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05E4E-1790-4046-AC2C-1D17C8111E51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60C6A2-E44B-4390-9FDF-DE256F3F8A33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4478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Invisible work has no market language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CB137AD-9BA3-41B3-8319-A18A94303DF8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7905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2E030A-CF37-496B-B46B-2CD0F8406A68}"/>
              </a:ext>
            </a:extLst>
          </p:cNvPr>
          <p:cNvSpPr>
            <a:spLocks noGrp="1"/>
          </p:cNvSpPr>
          <p:nvPr/>
        </p:nvSpPr>
        <p:spPr>
          <a:xfrm>
            <a:off x="1504950" y="35052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097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8C9994"/>
                </a:solidFill>
              </a:defRPr>
            </a:pPr>
            <a:r>
              <a:rPr sz="2100" b="1" i="0">
                <a:solidFill>
                  <a:srgbClr val="8C9994"/>
                </a:solidFill>
              </a:rPr>
              <a:t>Resume field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02E2A-C520-4361-8AFE-E6BCD9A0E89E}"/>
              </a:ext>
            </a:extLst>
          </p:cNvPr>
          <p:cNvSpPr>
            <a:spLocks noGrp="1"/>
          </p:cNvSpPr>
          <p:nvPr/>
        </p:nvSpPr>
        <p:spPr>
          <a:xfrm>
            <a:off x="1504950" y="4286250"/>
            <a:ext cx="6572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89"/>
          </a:bodyPr>
          <a:lstStyle/>
          <a:p>
            <a:pPr algn="l">
              <a:lnSpc>
                <a:spcPct val="90000"/>
              </a:lnSpc>
              <a:buNone/>
              <a:defRPr sz="7950" b="1" i="0">
                <a:solidFill>
                  <a:srgbClr val="D64D68"/>
                </a:solidFill>
              </a:defRPr>
            </a:pPr>
            <a:r>
              <a:rPr sz="7950" b="1" i="0">
                <a:solidFill>
                  <a:srgbClr val="D64D68"/>
                </a:solidFill>
              </a:rPr>
              <a:t>Unemployed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779455-5FB8-4A45-894D-175E50C0CA9E}"/>
              </a:ext>
            </a:extLst>
          </p:cNvPr>
          <p:cNvSpPr>
            <a:spLocks noGrp="1"/>
          </p:cNvSpPr>
          <p:nvPr/>
        </p:nvSpPr>
        <p:spPr>
          <a:xfrm rot="-180000">
            <a:off x="1485900" y="5200650"/>
            <a:ext cx="6858000" cy="76200"/>
          </a:xfrm>
          <a:prstGeom prst="rect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91B43E-F47B-4E5C-862E-15ED91F17500}"/>
              </a:ext>
            </a:extLst>
          </p:cNvPr>
          <p:cNvSpPr>
            <a:spLocks noGrp="1"/>
          </p:cNvSpPr>
          <p:nvPr/>
        </p:nvSpPr>
        <p:spPr>
          <a:xfrm>
            <a:off x="1504950" y="5943600"/>
            <a:ext cx="619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861"/>
          </a:bodyPr>
          <a:lstStyle/>
          <a:p>
            <a:pPr algn="l">
              <a:lnSpc>
                <a:spcPct val="112000"/>
              </a:lnSpc>
              <a:buNone/>
              <a:defRPr sz="2250" b="1" i="0">
                <a:solidFill>
                  <a:srgbClr val="5E6966"/>
                </a:solidFill>
              </a:defRPr>
            </a:pPr>
            <a:r>
              <a:rPr sz="2250" b="1" i="0">
                <a:solidFill>
                  <a:srgbClr val="5E6966"/>
                </a:solidFill>
              </a:rPr>
              <a:t>A homemaker may work all day, but her resume still says nothing.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48802D-2E00-406F-B6A0-F0C40F6E1CDD}"/>
              </a:ext>
            </a:extLst>
          </p:cNvPr>
          <p:cNvSpPr>
            <a:spLocks noGrp="1"/>
          </p:cNvSpPr>
          <p:nvPr/>
        </p:nvSpPr>
        <p:spPr>
          <a:xfrm>
            <a:off x="9667875" y="3048000"/>
            <a:ext cx="47625" cy="112395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B32D90-7B61-48AA-9831-71B5C7871543}"/>
              </a:ext>
            </a:extLst>
          </p:cNvPr>
          <p:cNvSpPr>
            <a:spLocks noGrp="1"/>
          </p:cNvSpPr>
          <p:nvPr/>
        </p:nvSpPr>
        <p:spPr>
          <a:xfrm>
            <a:off x="9715500" y="3048000"/>
            <a:ext cx="7581900" cy="1123950"/>
          </a:xfrm>
          <a:prstGeom prst="rect">
            <a:avLst/>
          </a:prstGeom>
          <a:solidFill>
            <a:srgbClr val="E8F5F5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D279A3-C3F2-4B3E-928D-3E0F9C387FDE}"/>
              </a:ext>
            </a:extLst>
          </p:cNvPr>
          <p:cNvSpPr>
            <a:spLocks noGrp="1"/>
          </p:cNvSpPr>
          <p:nvPr/>
        </p:nvSpPr>
        <p:spPr>
          <a:xfrm>
            <a:off x="10001250" y="3371850"/>
            <a:ext cx="742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34"/>
          </a:bodyPr>
          <a:lstStyle/>
          <a:p>
            <a:pPr algn="l">
              <a:lnSpc>
                <a:spcPct val="112000"/>
              </a:lnSpc>
              <a:buNone/>
              <a:defRPr sz="2550" b="1" i="0">
                <a:solidFill>
                  <a:srgbClr val="138AA0"/>
                </a:solidFill>
              </a:defRPr>
            </a:pPr>
            <a:r>
              <a:rPr sz="2550" b="1" i="0">
                <a:solidFill>
                  <a:srgbClr val="138AA0"/>
                </a:solidFill>
              </a:rPr>
              <a:t>01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F269C6-2CC9-4E08-BF3B-78CB601E840C}"/>
              </a:ext>
            </a:extLst>
          </p:cNvPr>
          <p:cNvSpPr>
            <a:spLocks noGrp="1"/>
          </p:cNvSpPr>
          <p:nvPr/>
        </p:nvSpPr>
        <p:spPr>
          <a:xfrm>
            <a:off x="10858500" y="32861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Skills are unnamed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68414F-90DA-46A6-B659-1353795647B7}"/>
              </a:ext>
            </a:extLst>
          </p:cNvPr>
          <p:cNvSpPr>
            <a:spLocks noGrp="1"/>
          </p:cNvSpPr>
          <p:nvPr/>
        </p:nvSpPr>
        <p:spPr>
          <a:xfrm>
            <a:off x="9667875" y="4419600"/>
            <a:ext cx="47625" cy="1123950"/>
          </a:xfrm>
          <a:prstGeom prst="rect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E39EC6-2582-4706-80A5-5337F508C5E7}"/>
              </a:ext>
            </a:extLst>
          </p:cNvPr>
          <p:cNvSpPr>
            <a:spLocks noGrp="1"/>
          </p:cNvSpPr>
          <p:nvPr/>
        </p:nvSpPr>
        <p:spPr>
          <a:xfrm>
            <a:off x="9715500" y="4419600"/>
            <a:ext cx="7581900" cy="1123950"/>
          </a:xfrm>
          <a:prstGeom prst="rect">
            <a:avLst/>
          </a:prstGeom>
          <a:solidFill>
            <a:srgbClr val="FFF4D8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F65CAE-5AA6-4E85-8093-AEE4A31BCAD1}"/>
              </a:ext>
            </a:extLst>
          </p:cNvPr>
          <p:cNvSpPr>
            <a:spLocks noGrp="1"/>
          </p:cNvSpPr>
          <p:nvPr/>
        </p:nvSpPr>
        <p:spPr>
          <a:xfrm>
            <a:off x="10001250" y="4743450"/>
            <a:ext cx="742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34"/>
          </a:bodyPr>
          <a:lstStyle/>
          <a:p>
            <a:pPr algn="l">
              <a:lnSpc>
                <a:spcPct val="112000"/>
              </a:lnSpc>
              <a:buNone/>
              <a:defRPr sz="2550" b="1" i="0">
                <a:solidFill>
                  <a:srgbClr val="C9901C"/>
                </a:solidFill>
              </a:defRPr>
            </a:pPr>
            <a:r>
              <a:rPr sz="2550" b="1" i="0">
                <a:solidFill>
                  <a:srgbClr val="C9901C"/>
                </a:solidFill>
              </a:rPr>
              <a:t>02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D4666E-CBF4-4CE6-A3A4-5E6712507B53}"/>
              </a:ext>
            </a:extLst>
          </p:cNvPr>
          <p:cNvSpPr>
            <a:spLocks noGrp="1"/>
          </p:cNvSpPr>
          <p:nvPr/>
        </p:nvSpPr>
        <p:spPr>
          <a:xfrm>
            <a:off x="10858500" y="46577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Labor is unpaid and unseen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D26503-6D97-4564-B18E-BBEF27814230}"/>
              </a:ext>
            </a:extLst>
          </p:cNvPr>
          <p:cNvSpPr>
            <a:spLocks noGrp="1"/>
          </p:cNvSpPr>
          <p:nvPr/>
        </p:nvSpPr>
        <p:spPr>
          <a:xfrm>
            <a:off x="9667875" y="5791200"/>
            <a:ext cx="47625" cy="1123950"/>
          </a:xfrm>
          <a:prstGeom prst="rect">
            <a:avLst/>
          </a:prstGeom>
          <a:solidFill>
            <a:srgbClr val="168265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5916D2-184B-491C-AC2C-474AE8D0AE78}"/>
              </a:ext>
            </a:extLst>
          </p:cNvPr>
          <p:cNvSpPr>
            <a:spLocks noGrp="1"/>
          </p:cNvSpPr>
          <p:nvPr/>
        </p:nvSpPr>
        <p:spPr>
          <a:xfrm>
            <a:off x="9715500" y="5791200"/>
            <a:ext cx="7581900" cy="1123950"/>
          </a:xfrm>
          <a:prstGeom prst="rect">
            <a:avLst/>
          </a:prstGeom>
          <a:solidFill>
            <a:srgbClr val="EAF5EE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0F8E7C-9C45-4692-AABE-58C27AF6D4EB}"/>
              </a:ext>
            </a:extLst>
          </p:cNvPr>
          <p:cNvSpPr>
            <a:spLocks noGrp="1"/>
          </p:cNvSpPr>
          <p:nvPr/>
        </p:nvSpPr>
        <p:spPr>
          <a:xfrm>
            <a:off x="10001250" y="6115050"/>
            <a:ext cx="742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34"/>
          </a:bodyPr>
          <a:lstStyle/>
          <a:p>
            <a:pPr algn="l">
              <a:lnSpc>
                <a:spcPct val="112000"/>
              </a:lnSpc>
              <a:buNone/>
              <a:defRPr sz="2550" b="1" i="0">
                <a:solidFill>
                  <a:srgbClr val="168265"/>
                </a:solidFill>
              </a:defRPr>
            </a:pPr>
            <a:r>
              <a:rPr sz="2550" b="1" i="0">
                <a:solidFill>
                  <a:srgbClr val="168265"/>
                </a:solidFill>
              </a:rPr>
              <a:t>03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3817FB-B588-4DBB-863D-FF85EBF4BF07}"/>
              </a:ext>
            </a:extLst>
          </p:cNvPr>
          <p:cNvSpPr>
            <a:spLocks noGrp="1"/>
          </p:cNvSpPr>
          <p:nvPr/>
        </p:nvSpPr>
        <p:spPr>
          <a:xfrm>
            <a:off x="10858500" y="60293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6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Identity is hidden inside family roles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D4E2C2-A7A9-4A6F-9950-DE6844E9836D}"/>
              </a:ext>
            </a:extLst>
          </p:cNvPr>
          <p:cNvSpPr>
            <a:spLocks noGrp="1"/>
          </p:cNvSpPr>
          <p:nvPr/>
        </p:nvSpPr>
        <p:spPr>
          <a:xfrm>
            <a:off x="990600" y="8001000"/>
            <a:ext cx="16306800" cy="914400"/>
          </a:xfrm>
          <a:prstGeom prst="roundRect">
            <a:avLst>
              <a:gd name="adj" fmla="val 8333"/>
            </a:avLst>
          </a:prstGeom>
          <a:solidFill>
            <a:srgbClr val="FFF2C7"/>
          </a:solidFill>
          <a:ln w="9525">
            <a:solidFill>
              <a:srgbClr val="E5CF86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E5D3D5-42B9-44E2-B499-EDA592928365}"/>
              </a:ext>
            </a:extLst>
          </p:cNvPr>
          <p:cNvSpPr>
            <a:spLocks noGrp="1"/>
          </p:cNvSpPr>
          <p:nvPr/>
        </p:nvSpPr>
        <p:spPr>
          <a:xfrm>
            <a:off x="1314450" y="82296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188"/>
          </a:bodyPr>
          <a:lstStyle/>
          <a:p>
            <a:pPr algn="l">
              <a:lnSpc>
                <a:spcPct val="112000"/>
              </a:lnSpc>
              <a:buNone/>
              <a:defRPr sz="2850" b="1" i="0">
                <a:solidFill>
                  <a:srgbClr val="1F2423"/>
                </a:solidFill>
              </a:defRPr>
            </a:pPr>
            <a:r>
              <a:rPr sz="2850" b="1" i="0">
                <a:solidFill>
                  <a:srgbClr val="1F2423"/>
                </a:solidFill>
              </a:rPr>
              <a:t>Not a lack of ability.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E5A706-7ED9-406C-9D9F-42D7D646D304}"/>
              </a:ext>
            </a:extLst>
          </p:cNvPr>
          <p:cNvSpPr>
            <a:spLocks noGrp="1"/>
          </p:cNvSpPr>
          <p:nvPr/>
        </p:nvSpPr>
        <p:spPr>
          <a:xfrm>
            <a:off x="9906000" y="82296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188"/>
          </a:bodyPr>
          <a:lstStyle/>
          <a:p>
            <a:pPr algn="r">
              <a:lnSpc>
                <a:spcPct val="112000"/>
              </a:lnSpc>
              <a:buNone/>
              <a:defRPr sz="2850" b="1" i="0">
                <a:solidFill>
                  <a:srgbClr val="C9901C"/>
                </a:solidFill>
              </a:defRPr>
            </a:pPr>
            <a:r>
              <a:rPr sz="2850" b="1" i="0">
                <a:solidFill>
                  <a:srgbClr val="C9901C"/>
                </a:solidFill>
              </a:rPr>
              <a:t>A lack of translation.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088F7587-FDC5-4FF0-BDE4-57D88348E22D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20F248-147B-4C6C-BE06-F65B9EAE758D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Hidden labor -&gt; unnamed value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203CF0-5323-4E97-8AE4-2B143BF8EA3C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0:35-1:15 / 02</a:t>
            </a:r>
          </a:p>
        </p:txBody>
      </p:sp>
    </p:spTree>
    <p:extLst>
      <p:ext uri="{BB962C8B-B14F-4D97-AF65-F5344CB8AC3E}">
        <p14:creationId xmlns:p14="http://schemas.microsoft.com/office/powerpoint/2010/main" val="158666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A8866C0-41C2-4A40-A3BA-F71ECDB71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D02BD2-33A1-4C12-92CD-67558D548F20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1E8C743-6E1F-4BFB-BED2-DBAE962D568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BB1B6FD-A6E3-4090-AB74-11068B5F5AE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1F4E9BE-D2D9-4379-BC87-051314A67685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83C622F-D4C7-4377-9E55-68B973CA751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6618A06-0302-4EC5-84AC-4503AB7943C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0A9E461-6630-44BF-88A9-03C68778673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1F17BDF-AE17-4BC5-9BFC-4F5ABAAF6425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FCAA19E-4B5E-4895-94AB-942E99CEC219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68CF58F-0FBB-4667-877C-641E9D82FF38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E100BC-D80D-4C53-A9CD-F88F6C291059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44E54A0-1C48-4970-89B8-E3F62C338761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5970D6E-6516-49A5-A9D2-A2A97A8EC6E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D05B0D5-5AAC-44AC-80A6-F9A2795B090C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A81881D-C889-4CEF-8B3F-0686CC1A813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BAD6AD1-1A3A-4FFB-887B-C6064C11506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7C53093-C494-4327-82C1-44588806ADAC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E24FE84-F12D-4370-A372-64A02F0ADE12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D75B70-B6C9-4FDA-9EE1-3A01DF841225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Mechanism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B2C5C2-2695-4446-B7BF-DDCBA934D318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1811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IDBLOOM = Identity + Delivery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CDE96F-0B29-40D5-8F2A-C69A0044E60A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45720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2C947-5B04-45DF-92EB-2CD53A7FAA0B}"/>
              </a:ext>
            </a:extLst>
          </p:cNvPr>
          <p:cNvSpPr>
            <a:spLocks noGrp="1"/>
          </p:cNvSpPr>
          <p:nvPr/>
        </p:nvSpPr>
        <p:spPr>
          <a:xfrm>
            <a:off x="1314450" y="31051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429"/>
          </a:bodyPr>
          <a:lstStyle/>
          <a:p>
            <a:pPr algn="l">
              <a:lnSpc>
                <a:spcPct val="112000"/>
              </a:lnSpc>
              <a:buNone/>
              <a:defRPr sz="3000" b="1" i="0">
                <a:solidFill>
                  <a:srgbClr val="1F2423"/>
                </a:solidFill>
              </a:defRPr>
            </a:pPr>
            <a:r>
              <a:rPr sz="3000" b="1" i="0">
                <a:solidFill>
                  <a:srgbClr val="1F2423"/>
                </a:solidFill>
              </a:rPr>
              <a:t>Inner Identity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CC73E-EFEC-4B2E-835C-AD1AE654B0C8}"/>
              </a:ext>
            </a:extLst>
          </p:cNvPr>
          <p:cNvSpPr>
            <a:spLocks noGrp="1"/>
          </p:cNvSpPr>
          <p:nvPr/>
        </p:nvSpPr>
        <p:spPr>
          <a:xfrm>
            <a:off x="1314450" y="37528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75"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5E6966"/>
                </a:solidFill>
              </a:defRPr>
            </a:pPr>
            <a:r>
              <a:rPr sz="1950" b="0" i="0">
                <a:solidFill>
                  <a:srgbClr val="5E6966"/>
                </a:solidFill>
              </a:rPr>
              <a:t>AI discovers hidden skills from daily home life.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720294E-2E4C-450E-8E56-914202FD7F1C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45720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742709-7C6A-4B44-93FD-A0BABF7F73F9}"/>
              </a:ext>
            </a:extLst>
          </p:cNvPr>
          <p:cNvSpPr>
            <a:spLocks noGrp="1"/>
          </p:cNvSpPr>
          <p:nvPr/>
        </p:nvSpPr>
        <p:spPr>
          <a:xfrm>
            <a:off x="7181850" y="31051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429"/>
          </a:bodyPr>
          <a:lstStyle/>
          <a:p>
            <a:pPr algn="l">
              <a:lnSpc>
                <a:spcPct val="112000"/>
              </a:lnSpc>
              <a:buNone/>
              <a:defRPr sz="3000" b="1" i="0">
                <a:solidFill>
                  <a:srgbClr val="1F2423"/>
                </a:solidFill>
              </a:defRPr>
            </a:pPr>
            <a:r>
              <a:rPr sz="3000" b="1" i="0">
                <a:solidFill>
                  <a:srgbClr val="1F2423"/>
                </a:solidFill>
              </a:rPr>
              <a:t>Identity Passport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43DB55-4315-4138-88D5-80EC439A4778}"/>
              </a:ext>
            </a:extLst>
          </p:cNvPr>
          <p:cNvSpPr>
            <a:spLocks noGrp="1"/>
          </p:cNvSpPr>
          <p:nvPr/>
        </p:nvSpPr>
        <p:spPr>
          <a:xfrm>
            <a:off x="7181850" y="37528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254"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5E6966"/>
                </a:solidFill>
              </a:defRPr>
            </a:pPr>
            <a:r>
              <a:rPr sz="1950" b="0" i="0">
                <a:solidFill>
                  <a:srgbClr val="5E6966"/>
                </a:solidFill>
              </a:rPr>
              <a:t>Evidence, tags, cases, availability, and value language.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6F8112E-6BD9-4B85-BA0E-63A3C239BD5F}"/>
              </a:ext>
            </a:extLst>
          </p:cNvPr>
          <p:cNvSpPr>
            <a:spLocks noGrp="1"/>
          </p:cNvSpPr>
          <p:nvPr/>
        </p:nvSpPr>
        <p:spPr>
          <a:xfrm>
            <a:off x="12725400" y="2781300"/>
            <a:ext cx="45720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774B11-CCE2-455E-A429-DB312658FBF3}"/>
              </a:ext>
            </a:extLst>
          </p:cNvPr>
          <p:cNvSpPr>
            <a:spLocks noGrp="1"/>
          </p:cNvSpPr>
          <p:nvPr/>
        </p:nvSpPr>
        <p:spPr>
          <a:xfrm>
            <a:off x="13049250" y="31051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429"/>
          </a:bodyPr>
          <a:lstStyle/>
          <a:p>
            <a:pPr algn="l">
              <a:lnSpc>
                <a:spcPct val="112000"/>
              </a:lnSpc>
              <a:buNone/>
              <a:defRPr sz="3000" b="1" i="0">
                <a:solidFill>
                  <a:srgbClr val="1F2423"/>
                </a:solidFill>
              </a:defRPr>
            </a:pPr>
            <a:r>
              <a:rPr sz="3000" b="1" i="0">
                <a:solidFill>
                  <a:srgbClr val="1F2423"/>
                </a:solidFill>
              </a:rPr>
              <a:t>Demand Delivery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8CED8F-CF22-4A43-91DE-6151C03565BA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254"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5E6966"/>
                </a:solidFill>
              </a:defRPr>
            </a:pPr>
            <a:r>
              <a:rPr sz="1950" b="0" i="0">
                <a:solidFill>
                  <a:srgbClr val="5E6966"/>
                </a:solidFill>
              </a:rPr>
              <a:t>Routes skills into services, content, products, and local orders.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2EA42BF5-B9B0-46C1-B9B2-0AED8C356A8A}"/>
              </a:ext>
            </a:extLst>
          </p:cNvPr>
          <p:cNvSpPr>
            <a:spLocks noGrp="1"/>
          </p:cNvSpPr>
          <p:nvPr/>
        </p:nvSpPr>
        <p:spPr>
          <a:xfrm>
            <a:off x="5810250" y="3638550"/>
            <a:ext cx="800100" cy="0"/>
          </a:xfrm>
          <a:prstGeom prst="line">
            <a:avLst/>
          </a:prstGeom>
          <a:noFill/>
          <a:ln w="47625">
            <a:solidFill>
              <a:srgbClr val="138AA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5C19D2-DB92-49EE-BC92-E60EB5FBCD4D}"/>
              </a:ext>
            </a:extLst>
          </p:cNvPr>
          <p:cNvSpPr>
            <a:spLocks noGrp="1"/>
          </p:cNvSpPr>
          <p:nvPr/>
        </p:nvSpPr>
        <p:spPr>
          <a:xfrm>
            <a:off x="6477000" y="34099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380"/>
          </a:bodyPr>
          <a:lstStyle/>
          <a:p>
            <a:pPr algn="l">
              <a:lnSpc>
                <a:spcPct val="112000"/>
              </a:lnSpc>
              <a:buNone/>
              <a:defRPr sz="2400" b="1" i="0">
                <a:solidFill>
                  <a:srgbClr val="138AA0"/>
                </a:solidFill>
              </a:defRPr>
            </a:pPr>
            <a:r>
              <a:rPr sz="2400" b="1" i="0">
                <a:solidFill>
                  <a:srgbClr val="138AA0"/>
                </a:solidFill>
              </a:rPr>
              <a:t>&gt;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7833D81F-B1C7-40D5-803A-7D883C4F9C36}"/>
              </a:ext>
            </a:extLst>
          </p:cNvPr>
          <p:cNvSpPr>
            <a:spLocks noGrp="1"/>
          </p:cNvSpPr>
          <p:nvPr/>
        </p:nvSpPr>
        <p:spPr>
          <a:xfrm>
            <a:off x="11677650" y="3638550"/>
            <a:ext cx="800100" cy="0"/>
          </a:xfrm>
          <a:prstGeom prst="line">
            <a:avLst/>
          </a:prstGeom>
          <a:noFill/>
          <a:ln w="47625">
            <a:solidFill>
              <a:srgbClr val="138AA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3C7DA3-F6A5-44C9-BC10-47FCAEC21564}"/>
              </a:ext>
            </a:extLst>
          </p:cNvPr>
          <p:cNvSpPr>
            <a:spLocks noGrp="1"/>
          </p:cNvSpPr>
          <p:nvPr/>
        </p:nvSpPr>
        <p:spPr>
          <a:xfrm>
            <a:off x="12344400" y="34099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380"/>
          </a:bodyPr>
          <a:lstStyle/>
          <a:p>
            <a:pPr algn="l">
              <a:lnSpc>
                <a:spcPct val="112000"/>
              </a:lnSpc>
              <a:buNone/>
              <a:defRPr sz="2400" b="1" i="0">
                <a:solidFill>
                  <a:srgbClr val="138AA0"/>
                </a:solidFill>
              </a:defRPr>
            </a:pPr>
            <a:r>
              <a:rPr sz="2400" b="1" i="0">
                <a:solidFill>
                  <a:srgbClr val="138AA0"/>
                </a:solidFill>
              </a:rPr>
              <a:t>&gt;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7D858F-37B8-4E96-8848-5B94635ED97D}"/>
              </a:ext>
            </a:extLst>
          </p:cNvPr>
          <p:cNvSpPr>
            <a:spLocks noGrp="1"/>
          </p:cNvSpPr>
          <p:nvPr/>
        </p:nvSpPr>
        <p:spPr>
          <a:xfrm>
            <a:off x="990600" y="5638800"/>
            <a:ext cx="3048000" cy="47625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98FB98-9332-4789-A47B-AF744076E57C}"/>
              </a:ext>
            </a:extLst>
          </p:cNvPr>
          <p:cNvSpPr>
            <a:spLocks noGrp="1"/>
          </p:cNvSpPr>
          <p:nvPr/>
        </p:nvSpPr>
        <p:spPr>
          <a:xfrm>
            <a:off x="990600" y="5686425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D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6BFFC6-3861-44BB-A9A4-B34F3D1766BA}"/>
              </a:ext>
            </a:extLst>
          </p:cNvPr>
          <p:cNvSpPr>
            <a:spLocks noGrp="1"/>
          </p:cNvSpPr>
          <p:nvPr/>
        </p:nvSpPr>
        <p:spPr>
          <a:xfrm>
            <a:off x="1219200" y="59626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Daily memo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16DF09-929B-4B65-8FE4-943A040C0A6E}"/>
              </a:ext>
            </a:extLst>
          </p:cNvPr>
          <p:cNvSpPr>
            <a:spLocks noGrp="1"/>
          </p:cNvSpPr>
          <p:nvPr/>
        </p:nvSpPr>
        <p:spPr>
          <a:xfrm>
            <a:off x="1219200" y="6838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voice / photo / to-do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AEED83-2B0C-4B35-BDC5-5FAE4CE16131}"/>
              </a:ext>
            </a:extLst>
          </p:cNvPr>
          <p:cNvSpPr>
            <a:spLocks noGrp="1"/>
          </p:cNvSpPr>
          <p:nvPr/>
        </p:nvSpPr>
        <p:spPr>
          <a:xfrm>
            <a:off x="4057650" y="6400800"/>
            <a:ext cx="26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2055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9AA6A2"/>
                </a:solidFill>
              </a:defRPr>
            </a:pPr>
            <a:r>
              <a:rPr sz="2100" b="1" i="0">
                <a:solidFill>
                  <a:srgbClr val="9AA6A2"/>
                </a:solidFill>
              </a:rPr>
              <a:t>&gt;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F6B4F8-3C0B-4D7E-B30D-93B10C3068F5}"/>
              </a:ext>
            </a:extLst>
          </p:cNvPr>
          <p:cNvSpPr>
            <a:spLocks noGrp="1"/>
          </p:cNvSpPr>
          <p:nvPr/>
        </p:nvSpPr>
        <p:spPr>
          <a:xfrm>
            <a:off x="4267200" y="5638800"/>
            <a:ext cx="3048000" cy="47625"/>
          </a:xfrm>
          <a:prstGeom prst="rect">
            <a:avLst/>
          </a:prstGeom>
          <a:solidFill>
            <a:srgbClr val="168265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50CE86-3AFC-44CF-AD4B-F7688E828EF8}"/>
              </a:ext>
            </a:extLst>
          </p:cNvPr>
          <p:cNvSpPr>
            <a:spLocks noGrp="1"/>
          </p:cNvSpPr>
          <p:nvPr/>
        </p:nvSpPr>
        <p:spPr>
          <a:xfrm>
            <a:off x="4267200" y="5686425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DB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0DCCE9-919F-4149-B354-E04B9DA50CBC}"/>
              </a:ext>
            </a:extLst>
          </p:cNvPr>
          <p:cNvSpPr>
            <a:spLocks noGrp="1"/>
          </p:cNvSpPr>
          <p:nvPr/>
        </p:nvSpPr>
        <p:spPr>
          <a:xfrm>
            <a:off x="4495800" y="59626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Skill extraction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18A61C-97F1-4EA2-B4A7-0F100FE61B40}"/>
              </a:ext>
            </a:extLst>
          </p:cNvPr>
          <p:cNvSpPr>
            <a:spLocks noGrp="1"/>
          </p:cNvSpPr>
          <p:nvPr/>
        </p:nvSpPr>
        <p:spPr>
          <a:xfrm>
            <a:off x="4495800" y="6838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759"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name hidden competence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A40BE4-202B-4FD3-878D-34C2CDDF8435}"/>
              </a:ext>
            </a:extLst>
          </p:cNvPr>
          <p:cNvSpPr>
            <a:spLocks noGrp="1"/>
          </p:cNvSpPr>
          <p:nvPr/>
        </p:nvSpPr>
        <p:spPr>
          <a:xfrm>
            <a:off x="7334250" y="6400800"/>
            <a:ext cx="26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2055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9AA6A2"/>
                </a:solidFill>
              </a:defRPr>
            </a:pPr>
            <a:r>
              <a:rPr sz="2100" b="1" i="0">
                <a:solidFill>
                  <a:srgbClr val="9AA6A2"/>
                </a:solidFill>
              </a:rPr>
              <a:t>&gt;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0F7874-4ED6-49E5-9E17-8A4D3666381D}"/>
              </a:ext>
            </a:extLst>
          </p:cNvPr>
          <p:cNvSpPr>
            <a:spLocks noGrp="1"/>
          </p:cNvSpPr>
          <p:nvPr/>
        </p:nvSpPr>
        <p:spPr>
          <a:xfrm>
            <a:off x="7543800" y="5638800"/>
            <a:ext cx="3048000" cy="47625"/>
          </a:xfrm>
          <a:prstGeom prst="rect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EDAABA-88EA-4CFF-BBDC-3EE74E173BC5}"/>
              </a:ext>
            </a:extLst>
          </p:cNvPr>
          <p:cNvSpPr>
            <a:spLocks noGrp="1"/>
          </p:cNvSpPr>
          <p:nvPr/>
        </p:nvSpPr>
        <p:spPr>
          <a:xfrm>
            <a:off x="7543800" y="5686425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DB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30CAB-913F-4E49-B8D2-ACD18B28D065}"/>
              </a:ext>
            </a:extLst>
          </p:cNvPr>
          <p:cNvSpPr>
            <a:spLocks noGrp="1"/>
          </p:cNvSpPr>
          <p:nvPr/>
        </p:nvSpPr>
        <p:spPr>
          <a:xfrm>
            <a:off x="7772400" y="59626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355"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Evidence portfolio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85BE52-E761-43C3-B102-99FB68DA177B}"/>
              </a:ext>
            </a:extLst>
          </p:cNvPr>
          <p:cNvSpPr>
            <a:spLocks noGrp="1"/>
          </p:cNvSpPr>
          <p:nvPr/>
        </p:nvSpPr>
        <p:spPr>
          <a:xfrm>
            <a:off x="7772400" y="6838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46"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cases + tags + availability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A8D9DB-230A-4DF0-B1E2-FE3AF2F6C15A}"/>
              </a:ext>
            </a:extLst>
          </p:cNvPr>
          <p:cNvSpPr>
            <a:spLocks noGrp="1"/>
          </p:cNvSpPr>
          <p:nvPr/>
        </p:nvSpPr>
        <p:spPr>
          <a:xfrm>
            <a:off x="10610850" y="6400800"/>
            <a:ext cx="26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2055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9AA6A2"/>
                </a:solidFill>
              </a:defRPr>
            </a:pPr>
            <a:r>
              <a:rPr sz="2100" b="1" i="0">
                <a:solidFill>
                  <a:srgbClr val="9AA6A2"/>
                </a:solidFill>
              </a:rPr>
              <a:t>&gt;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602D98-ACFE-419F-84A1-08FC9A2F01F0}"/>
              </a:ext>
            </a:extLst>
          </p:cNvPr>
          <p:cNvSpPr>
            <a:spLocks noGrp="1"/>
          </p:cNvSpPr>
          <p:nvPr/>
        </p:nvSpPr>
        <p:spPr>
          <a:xfrm>
            <a:off x="10820400" y="5638800"/>
            <a:ext cx="3048000" cy="47625"/>
          </a:xfrm>
          <a:prstGeom prst="rect">
            <a:avLst/>
          </a:prstGeom>
          <a:solidFill>
            <a:srgbClr val="725DC8"/>
          </a:solidFill>
          <a:ln w="9525">
            <a:solidFill>
              <a:srgbClr val="725DC8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BC1308D-709D-4A25-88CD-431B2152B52C}"/>
              </a:ext>
            </a:extLst>
          </p:cNvPr>
          <p:cNvSpPr>
            <a:spLocks noGrp="1"/>
          </p:cNvSpPr>
          <p:nvPr/>
        </p:nvSpPr>
        <p:spPr>
          <a:xfrm>
            <a:off x="10820400" y="5686425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DB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C198CF-667C-4A3B-8657-349F6795D8DD}"/>
              </a:ext>
            </a:extLst>
          </p:cNvPr>
          <p:cNvSpPr>
            <a:spLocks noGrp="1"/>
          </p:cNvSpPr>
          <p:nvPr/>
        </p:nvSpPr>
        <p:spPr>
          <a:xfrm>
            <a:off x="11049000" y="59626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883"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Market packaging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02A768-F611-4F62-BEC8-A05E7DF76187}"/>
              </a:ext>
            </a:extLst>
          </p:cNvPr>
          <p:cNvSpPr>
            <a:spLocks noGrp="1"/>
          </p:cNvSpPr>
          <p:nvPr/>
        </p:nvSpPr>
        <p:spPr>
          <a:xfrm>
            <a:off x="11049000" y="6838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93"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service / content / product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C553471-65C4-4AFE-8567-8251B0ADB6EF}"/>
              </a:ext>
            </a:extLst>
          </p:cNvPr>
          <p:cNvSpPr>
            <a:spLocks noGrp="1"/>
          </p:cNvSpPr>
          <p:nvPr/>
        </p:nvSpPr>
        <p:spPr>
          <a:xfrm>
            <a:off x="13887450" y="6400800"/>
            <a:ext cx="26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2055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9AA6A2"/>
                </a:solidFill>
              </a:defRPr>
            </a:pPr>
            <a:r>
              <a:rPr sz="2100" b="1" i="0">
                <a:solidFill>
                  <a:srgbClr val="9AA6A2"/>
                </a:solidFill>
              </a:rPr>
              <a:t>&gt;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A8EABD-7551-41BF-8869-E22072192399}"/>
              </a:ext>
            </a:extLst>
          </p:cNvPr>
          <p:cNvSpPr>
            <a:spLocks noGrp="1"/>
          </p:cNvSpPr>
          <p:nvPr/>
        </p:nvSpPr>
        <p:spPr>
          <a:xfrm>
            <a:off x="14097000" y="5638800"/>
            <a:ext cx="3048000" cy="47625"/>
          </a:xfrm>
          <a:prstGeom prst="rect">
            <a:avLst/>
          </a:prstGeom>
          <a:solidFill>
            <a:srgbClr val="D64D68"/>
          </a:solidFill>
          <a:ln w="9525">
            <a:solidFill>
              <a:srgbClr val="D64D68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4B8511-6AF9-4E24-8F34-3F11D4D856D6}"/>
              </a:ext>
            </a:extLst>
          </p:cNvPr>
          <p:cNvSpPr>
            <a:spLocks noGrp="1"/>
          </p:cNvSpPr>
          <p:nvPr/>
        </p:nvSpPr>
        <p:spPr>
          <a:xfrm>
            <a:off x="14097000" y="5686425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DB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B4B78B9-AF11-4D2B-89AC-7205A903896B}"/>
              </a:ext>
            </a:extLst>
          </p:cNvPr>
          <p:cNvSpPr>
            <a:spLocks noGrp="1"/>
          </p:cNvSpPr>
          <p:nvPr/>
        </p:nvSpPr>
        <p:spPr>
          <a:xfrm>
            <a:off x="14325600" y="59626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Local matching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737E3C4-B07A-4D29-9D38-19459D76B151}"/>
              </a:ext>
            </a:extLst>
          </p:cNvPr>
          <p:cNvSpPr>
            <a:spLocks noGrp="1"/>
          </p:cNvSpPr>
          <p:nvPr/>
        </p:nvSpPr>
        <p:spPr>
          <a:xfrm>
            <a:off x="14325600" y="6838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orders + feedback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470FF364-2D2B-4DA3-B83B-80D09D788371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E8DAA3-6A33-4AD6-9DFA-0365A4376C16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Product flow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FBB6C1-1CC5-4E7B-ADE3-A994F7A5B55F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1:15-2:05 / 03</a:t>
            </a:r>
          </a:p>
        </p:txBody>
      </p:sp>
    </p:spTree>
    <p:extLst>
      <p:ext uri="{BB962C8B-B14F-4D97-AF65-F5344CB8AC3E}">
        <p14:creationId xmlns:p14="http://schemas.microsoft.com/office/powerpoint/2010/main" val="32396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DEC2D76-5A94-4A98-AEF3-0BBDFF3FE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0B82F-659E-46F5-8DC7-4E156EB5C327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99910D2-843C-4554-892C-8822C5AC4B44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602041-FE47-4697-83C6-B6801FC8752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A14A43D-EA5A-44C6-AE2B-EEF6354F73F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FBEDD91-5DA1-4561-A76F-32723A59287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A70D6C0-E727-49B2-86D1-D8B572B9CDF8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B0F03AF-068F-4501-974E-AB842860DAC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CE0762E-07BC-4891-8869-89F197189278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1B38323-DE31-40D0-9DAC-96CB340D7A2A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5499E10-BBE9-4D28-A1EE-B908E678EEB3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7C081E2-2E24-4C6F-BC3E-D6AE83BBE802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65DFF16-F09E-4490-88A0-A1954FFDF53B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31702DF-C7C4-467C-8810-B28B31324F2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D2FB12B-D7A3-4F95-8305-3F34888F415D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6B40B3A-43CF-4DAF-A610-597067DD0357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E4427E0-F204-4237-8761-EB97A6655F2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9688830-6E5B-4EA0-9FDB-9FE8F3EF4A48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99FD465-3682-4CDA-8A19-DF5E655AAA76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94BE9-150D-43F7-8244-36A3D5177D9D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Demo 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C1FB98-AF24-4761-8004-7FF838C43155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4478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48"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One kitchen reset becomes a market offer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5403F65-5820-4B55-B0EE-7EF613C673B1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7715250" cy="581025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rcRect l="5212" r="5212"/>
          <a:stretch>
            <a:fillRect/>
          </a:stretch>
        </p:blipFill>
        <p:spPr>
          <a:xfrm>
            <a:off x="1123950" y="3276600"/>
            <a:ext cx="7448550" cy="5543550"/>
          </a:xfrm>
          <a:prstGeom prst="roundRect">
            <a:avLst>
              <a:gd name="adj" fmla="val 1375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735412B-6D16-4B93-9110-14AF7653AC7B}"/>
              </a:ext>
            </a:extLst>
          </p:cNvPr>
          <p:cNvSpPr>
            <a:spLocks noGrp="1"/>
          </p:cNvSpPr>
          <p:nvPr/>
        </p:nvSpPr>
        <p:spPr>
          <a:xfrm>
            <a:off x="1123950" y="5943600"/>
            <a:ext cx="7448550" cy="47625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B4BE3D-2B8D-4329-8C10-7DE9FA266A50}"/>
              </a:ext>
            </a:extLst>
          </p:cNvPr>
          <p:cNvSpPr>
            <a:spLocks noGrp="1"/>
          </p:cNvSpPr>
          <p:nvPr/>
        </p:nvSpPr>
        <p:spPr>
          <a:xfrm>
            <a:off x="9334500" y="3143250"/>
            <a:ext cx="79057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02000"/>
              </a:lnSpc>
              <a:buNone/>
              <a:defRPr sz="4050" b="1" i="0">
                <a:solidFill>
                  <a:srgbClr val="1F2423"/>
                </a:solidFill>
              </a:defRPr>
            </a:pPr>
            <a:r>
              <a:rPr sz="4050" b="1" i="0">
                <a:solidFill>
                  <a:srgbClr val="1F2423"/>
                </a:solidFill>
              </a:rPr>
              <a:t>"I used 6 storage boxes to reorganize my kitchen."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3AD900A-2C2B-410E-9649-26C3552DF235}"/>
              </a:ext>
            </a:extLst>
          </p:cNvPr>
          <p:cNvSpPr>
            <a:spLocks noGrp="1"/>
          </p:cNvSpPr>
          <p:nvPr/>
        </p:nvSpPr>
        <p:spPr>
          <a:xfrm>
            <a:off x="9334500" y="5219700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E0A09A-4E37-4614-B200-47E9EBEBE77D}"/>
              </a:ext>
            </a:extLst>
          </p:cNvPr>
          <p:cNvSpPr>
            <a:spLocks noGrp="1"/>
          </p:cNvSpPr>
          <p:nvPr/>
        </p:nvSpPr>
        <p:spPr>
          <a:xfrm>
            <a:off x="9486900" y="5324475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Space Planning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1DFA82B-918A-4650-8F94-7816AAE6AB36}"/>
              </a:ext>
            </a:extLst>
          </p:cNvPr>
          <p:cNvSpPr>
            <a:spLocks noGrp="1"/>
          </p:cNvSpPr>
          <p:nvPr/>
        </p:nvSpPr>
        <p:spPr>
          <a:xfrm>
            <a:off x="11887200" y="52197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E51D25-FEA3-4A97-86D4-3722C54C25AF}"/>
              </a:ext>
            </a:extLst>
          </p:cNvPr>
          <p:cNvSpPr>
            <a:spLocks noGrp="1"/>
          </p:cNvSpPr>
          <p:nvPr/>
        </p:nvSpPr>
        <p:spPr>
          <a:xfrm>
            <a:off x="12039600" y="5324475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Storage System Design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795CC22-B0F2-46E5-9ED5-A9D0FC4BF556}"/>
              </a:ext>
            </a:extLst>
          </p:cNvPr>
          <p:cNvSpPr>
            <a:spLocks noGrp="1"/>
          </p:cNvSpPr>
          <p:nvPr/>
        </p:nvSpPr>
        <p:spPr>
          <a:xfrm>
            <a:off x="9334500" y="5962650"/>
            <a:ext cx="37909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78FCEF-6024-4451-BE36-DBD7BF30E3B0}"/>
              </a:ext>
            </a:extLst>
          </p:cNvPr>
          <p:cNvSpPr>
            <a:spLocks noGrp="1"/>
          </p:cNvSpPr>
          <p:nvPr/>
        </p:nvSpPr>
        <p:spPr>
          <a:xfrm>
            <a:off x="9486900" y="606742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Child Independence Training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F61553A-1DBF-43BB-BE8F-E07B6C9BE5B1}"/>
              </a:ext>
            </a:extLst>
          </p:cNvPr>
          <p:cNvSpPr>
            <a:spLocks noGrp="1"/>
          </p:cNvSpPr>
          <p:nvPr/>
        </p:nvSpPr>
        <p:spPr>
          <a:xfrm>
            <a:off x="13315950" y="5962650"/>
            <a:ext cx="4000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686520-0E00-4EDF-964C-B34BBB6BEAAD}"/>
              </a:ext>
            </a:extLst>
          </p:cNvPr>
          <p:cNvSpPr>
            <a:spLocks noGrp="1"/>
          </p:cNvSpPr>
          <p:nvPr/>
        </p:nvSpPr>
        <p:spPr>
          <a:xfrm>
            <a:off x="13468350" y="6067425"/>
            <a:ext cx="3695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428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Family Workflow Optimization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F5AE176-4CC5-4C33-A95D-5DCFC206E499}"/>
              </a:ext>
            </a:extLst>
          </p:cNvPr>
          <p:cNvSpPr>
            <a:spLocks noGrp="1"/>
          </p:cNvSpPr>
          <p:nvPr/>
        </p:nvSpPr>
        <p:spPr>
          <a:xfrm>
            <a:off x="9334500" y="7239000"/>
            <a:ext cx="7905750" cy="1333500"/>
          </a:xfrm>
          <a:prstGeom prst="roundRect">
            <a:avLst>
              <a:gd name="adj" fmla="val 5714"/>
            </a:avLst>
          </a:prstGeom>
          <a:solidFill>
            <a:srgbClr val="EAF5EE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F5DF83-E911-4726-9EF8-E0FA38EB389E}"/>
              </a:ext>
            </a:extLst>
          </p:cNvPr>
          <p:cNvSpPr>
            <a:spLocks noGrp="1"/>
          </p:cNvSpPr>
          <p:nvPr/>
        </p:nvSpPr>
        <p:spPr>
          <a:xfrm>
            <a:off x="9658350" y="7524750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260"/>
          </a:bodyPr>
          <a:lstStyle/>
          <a:p>
            <a:pPr algn="l">
              <a:lnSpc>
                <a:spcPct val="112000"/>
              </a:lnSpc>
              <a:buNone/>
              <a:defRPr sz="2925" b="1" i="0">
                <a:solidFill>
                  <a:srgbClr val="1F2423"/>
                </a:solidFill>
              </a:defRPr>
            </a:pPr>
            <a:r>
              <a:rPr sz="2925" b="1" i="0">
                <a:solidFill>
                  <a:srgbClr val="1F2423"/>
                </a:solidFill>
              </a:rPr>
              <a:t>2-hour Small Kitchen Reset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710A03-3BD4-4E36-8320-D46A444CFC95}"/>
              </a:ext>
            </a:extLst>
          </p:cNvPr>
          <p:cNvSpPr>
            <a:spLocks noGrp="1"/>
          </p:cNvSpPr>
          <p:nvPr/>
        </p:nvSpPr>
        <p:spPr>
          <a:xfrm>
            <a:off x="9658350" y="80772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444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Simulated local demand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1607E1-4AB5-4029-8DF0-5CA26C49D84B}"/>
              </a:ext>
            </a:extLst>
          </p:cNvPr>
          <p:cNvSpPr>
            <a:spLocks noGrp="1"/>
          </p:cNvSpPr>
          <p:nvPr/>
        </p:nvSpPr>
        <p:spPr>
          <a:xfrm>
            <a:off x="15240000" y="76581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86"/>
          </a:bodyPr>
          <a:lstStyle/>
          <a:p>
            <a:pPr algn="r">
              <a:lnSpc>
                <a:spcPct val="112000"/>
              </a:lnSpc>
              <a:buNone/>
              <a:defRPr sz="3150" b="1" i="0">
                <a:solidFill>
                  <a:srgbClr val="C9901C"/>
                </a:solidFill>
              </a:defRPr>
            </a:pPr>
            <a:r>
              <a:rPr sz="3150" b="1" i="0">
                <a:solidFill>
                  <a:srgbClr val="C9901C"/>
                </a:solidFill>
              </a:rPr>
              <a:t>HKD 450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4E8F2B4F-986C-453B-BF1D-ED26C7140B66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9A07CC-239D-4161-9BE4-E97C6ADD0485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Daily action -&gt; skill evidence -&gt; priced service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54B3E0-8600-47E6-B690-80728DAA2A28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2:05-3:05 / 04</a:t>
            </a:r>
          </a:p>
        </p:txBody>
      </p:sp>
    </p:spTree>
    <p:extLst>
      <p:ext uri="{BB962C8B-B14F-4D97-AF65-F5344CB8AC3E}">
        <p14:creationId xmlns:p14="http://schemas.microsoft.com/office/powerpoint/2010/main" val="111458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1294E01A-9278-48DE-830C-F3B1C9B029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14412-4A27-41F7-A36B-F0F33F5080C4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C5EED35-C6F6-405A-80CC-B7EB4223DFCA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F0D2045-F483-4C34-95BD-D8632419271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89C5133-3817-4A29-8142-0DD47D708F5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7A28FDA-CB31-46F1-8226-CA78AD56DBD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C556928-BC59-4A52-B18B-EFDC836F9FB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22353E7-8638-4B6A-B21D-108C6A51334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19C26F4-1805-4190-998C-AABA38E8190A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A2510AD-D658-40B0-B5AC-9E3430B41A33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5BCF9BD-AE4B-469E-B661-F744FDEA6039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EACB909-906B-4B3C-9AF1-AF9FA820EB6E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2B7FA6F-4F3B-4957-B9A9-A056674EF943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C247C6B-3BDD-43D4-9EC7-6A4DB7BB4EC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537E8E8-B8EE-4320-A280-9227140DB70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30B1CBB-E550-44C5-840F-44168C99C1EB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894C01E-32CF-403C-9DCE-5C5A18CE412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8B39D49-3360-424E-A56F-6B8EDA53DF6D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78EC03-713E-4637-946C-47D40AB01030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E745A1-5F26-4415-A840-C8A031A97471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Demand Delivery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B4A831-13CE-47C2-9DD5-28CEE5834953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4478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26"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Four markets for the same hidden expertise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92815FD-EE2F-4080-A5B6-CEA7BE7EE929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3771900" cy="47244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003902-A1EE-45C7-8B72-C90DB23F7826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3771900" cy="5715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6B1467-D545-4818-9F51-D2D84914B874}"/>
              </a:ext>
            </a:extLst>
          </p:cNvPr>
          <p:cNvSpPr>
            <a:spLocks noGrp="1"/>
          </p:cNvSpPr>
          <p:nvPr/>
        </p:nvSpPr>
        <p:spPr>
          <a:xfrm>
            <a:off x="1276350" y="32385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826"/>
          </a:bodyPr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8C9994"/>
                </a:solidFill>
              </a:defRPr>
            </a:pPr>
            <a:r>
              <a:rPr sz="1950" b="1" i="0">
                <a:solidFill>
                  <a:srgbClr val="8C9994"/>
                </a:solidFill>
              </a:rPr>
              <a:t>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6A1501-88B6-4DCA-900B-244F6D0E655F}"/>
              </a:ext>
            </a:extLst>
          </p:cNvPr>
          <p:cNvSpPr>
            <a:spLocks noGrp="1"/>
          </p:cNvSpPr>
          <p:nvPr/>
        </p:nvSpPr>
        <p:spPr>
          <a:xfrm>
            <a:off x="1276350" y="396240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1F2423"/>
                </a:solidFill>
              </a:defRPr>
            </a:pPr>
            <a:r>
              <a:rPr sz="3450" b="1" i="0">
                <a:solidFill>
                  <a:srgbClr val="1F2423"/>
                </a:solidFill>
              </a:rPr>
              <a:t>Content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EB530B-3C41-4EB5-BF75-E96CA3E02294}"/>
              </a:ext>
            </a:extLst>
          </p:cNvPr>
          <p:cNvSpPr>
            <a:spLocks noGrp="1"/>
          </p:cNvSpPr>
          <p:nvPr/>
        </p:nvSpPr>
        <p:spPr>
          <a:xfrm>
            <a:off x="1276350" y="523875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271"/>
          </a:bodyPr>
          <a:lstStyle/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Xiaohongshu</a:t>
            </a:r>
          </a:p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TikTok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DC1E52-65F8-4A6A-A090-7ED00405464A}"/>
              </a:ext>
            </a:extLst>
          </p:cNvPr>
          <p:cNvSpPr>
            <a:spLocks noGrp="1"/>
          </p:cNvSpPr>
          <p:nvPr/>
        </p:nvSpPr>
        <p:spPr>
          <a:xfrm>
            <a:off x="1276350" y="65913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09"/>
          </a:bodyPr>
          <a:lstStyle/>
          <a:p>
            <a:pPr algn="l">
              <a:lnSpc>
                <a:spcPct val="112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scripts, posts, before-after stories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85DD104-47DE-43EC-9036-04E92A4C138A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3771900" cy="47244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3B9AE4-E69A-44EB-8EF8-B4A29E515167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3771900" cy="57150"/>
          </a:xfrm>
          <a:prstGeom prst="rect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682940-C76D-4127-8EE1-F601F2BD5A69}"/>
              </a:ext>
            </a:extLst>
          </p:cNvPr>
          <p:cNvSpPr>
            <a:spLocks noGrp="1"/>
          </p:cNvSpPr>
          <p:nvPr/>
        </p:nvSpPr>
        <p:spPr>
          <a:xfrm>
            <a:off x="5295900" y="32385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826"/>
          </a:bodyPr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8C9994"/>
                </a:solidFill>
              </a:defRPr>
            </a:pPr>
            <a:r>
              <a:rPr sz="1950" b="1" i="0">
                <a:solidFill>
                  <a:srgbClr val="8C9994"/>
                </a:solidFill>
              </a:rPr>
              <a:t>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74F857-6557-4BDC-ACB5-66AF7942B1AF}"/>
              </a:ext>
            </a:extLst>
          </p:cNvPr>
          <p:cNvSpPr>
            <a:spLocks noGrp="1"/>
          </p:cNvSpPr>
          <p:nvPr/>
        </p:nvSpPr>
        <p:spPr>
          <a:xfrm>
            <a:off x="5295900" y="396240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1F2423"/>
                </a:solidFill>
              </a:defRPr>
            </a:pPr>
            <a:r>
              <a:rPr sz="3450" b="1" i="0">
                <a:solidFill>
                  <a:srgbClr val="1F2423"/>
                </a:solidFill>
              </a:rPr>
              <a:t>Products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1E5D2E-680F-4804-B314-A673D13048E2}"/>
              </a:ext>
            </a:extLst>
          </p:cNvPr>
          <p:cNvSpPr>
            <a:spLocks noGrp="1"/>
          </p:cNvSpPr>
          <p:nvPr/>
        </p:nvSpPr>
        <p:spPr>
          <a:xfrm>
            <a:off x="5295900" y="523875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271"/>
          </a:bodyPr>
          <a:lstStyle/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Taobao</a:t>
            </a:r>
          </a:p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Etsy / Shopify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93E7F2-790F-4FA9-AE32-2886CF481A53}"/>
              </a:ext>
            </a:extLst>
          </p:cNvPr>
          <p:cNvSpPr>
            <a:spLocks noGrp="1"/>
          </p:cNvSpPr>
          <p:nvPr/>
        </p:nvSpPr>
        <p:spPr>
          <a:xfrm>
            <a:off x="5295900" y="65913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09"/>
          </a:bodyPr>
          <a:lstStyle/>
          <a:p>
            <a:pPr algn="l">
              <a:lnSpc>
                <a:spcPct val="112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templates, recipes, labels, kits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3A56C31-3BB6-4D65-A689-8923C0D94097}"/>
              </a:ext>
            </a:extLst>
          </p:cNvPr>
          <p:cNvSpPr>
            <a:spLocks noGrp="1"/>
          </p:cNvSpPr>
          <p:nvPr/>
        </p:nvSpPr>
        <p:spPr>
          <a:xfrm>
            <a:off x="9029700" y="2895600"/>
            <a:ext cx="3771900" cy="47244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7E859D-8465-41EF-8038-6AC7AAC8249B}"/>
              </a:ext>
            </a:extLst>
          </p:cNvPr>
          <p:cNvSpPr>
            <a:spLocks noGrp="1"/>
          </p:cNvSpPr>
          <p:nvPr/>
        </p:nvSpPr>
        <p:spPr>
          <a:xfrm>
            <a:off x="9029700" y="2895600"/>
            <a:ext cx="3771900" cy="57150"/>
          </a:xfrm>
          <a:prstGeom prst="rect">
            <a:avLst/>
          </a:prstGeom>
          <a:solidFill>
            <a:srgbClr val="168265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5396E5-4A38-48E6-8BC8-FFA1E23B5D78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826"/>
          </a:bodyPr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8C9994"/>
                </a:solidFill>
              </a:defRPr>
            </a:pPr>
            <a:r>
              <a:rPr sz="1950" b="1" i="0">
                <a:solidFill>
                  <a:srgbClr val="8C9994"/>
                </a:solidFill>
              </a:rPr>
              <a:t>03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3953E8-A84C-416D-8A38-19C1B1F4D257}"/>
              </a:ext>
            </a:extLst>
          </p:cNvPr>
          <p:cNvSpPr>
            <a:spLocks noGrp="1"/>
          </p:cNvSpPr>
          <p:nvPr/>
        </p:nvSpPr>
        <p:spPr>
          <a:xfrm>
            <a:off x="9315450" y="396240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360"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1F2423"/>
                </a:solidFill>
              </a:defRPr>
            </a:pPr>
            <a:r>
              <a:rPr sz="3450" b="1" i="0">
                <a:solidFill>
                  <a:srgbClr val="1F2423"/>
                </a:solidFill>
              </a:rPr>
              <a:t>Offline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9C4797-81E7-4F8E-A5B5-7DDCBBEF3271}"/>
              </a:ext>
            </a:extLst>
          </p:cNvPr>
          <p:cNvSpPr>
            <a:spLocks noGrp="1"/>
          </p:cNvSpPr>
          <p:nvPr/>
        </p:nvSpPr>
        <p:spPr>
          <a:xfrm>
            <a:off x="9315450" y="523875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271"/>
          </a:bodyPr>
          <a:lstStyle/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local parents</a:t>
            </a:r>
          </a:p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community groups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09EEA8-DD64-41CA-BA60-148D954CD7C0}"/>
              </a:ext>
            </a:extLst>
          </p:cNvPr>
          <p:cNvSpPr>
            <a:spLocks noGrp="1"/>
          </p:cNvSpPr>
          <p:nvPr/>
        </p:nvSpPr>
        <p:spPr>
          <a:xfrm>
            <a:off x="9315450" y="65913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09"/>
          </a:bodyPr>
          <a:lstStyle/>
          <a:p>
            <a:pPr algn="l">
              <a:lnSpc>
                <a:spcPct val="112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kitchen reset, meal prep, care planning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C48D09A-D528-478A-A485-1A6A17965A53}"/>
              </a:ext>
            </a:extLst>
          </p:cNvPr>
          <p:cNvSpPr>
            <a:spLocks noGrp="1"/>
          </p:cNvSpPr>
          <p:nvPr/>
        </p:nvSpPr>
        <p:spPr>
          <a:xfrm>
            <a:off x="13049250" y="2895600"/>
            <a:ext cx="3771900" cy="47244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FA8D56-F88B-4FDB-900E-04FF090B37A7}"/>
              </a:ext>
            </a:extLst>
          </p:cNvPr>
          <p:cNvSpPr>
            <a:spLocks noGrp="1"/>
          </p:cNvSpPr>
          <p:nvPr/>
        </p:nvSpPr>
        <p:spPr>
          <a:xfrm>
            <a:off x="13049250" y="2895600"/>
            <a:ext cx="3771900" cy="57150"/>
          </a:xfrm>
          <a:prstGeom prst="rect">
            <a:avLst/>
          </a:prstGeom>
          <a:solidFill>
            <a:srgbClr val="725DC8"/>
          </a:solidFill>
          <a:ln w="9525">
            <a:solidFill>
              <a:srgbClr val="725DC8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2EDAC6-40AF-4ECE-BF34-B9B538E8E3D1}"/>
              </a:ext>
            </a:extLst>
          </p:cNvPr>
          <p:cNvSpPr>
            <a:spLocks noGrp="1"/>
          </p:cNvSpPr>
          <p:nvPr/>
        </p:nvSpPr>
        <p:spPr>
          <a:xfrm>
            <a:off x="13335000" y="32385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826"/>
          </a:bodyPr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8C9994"/>
                </a:solidFill>
              </a:defRPr>
            </a:pPr>
            <a:r>
              <a:rPr sz="1950" b="1" i="0">
                <a:solidFill>
                  <a:srgbClr val="8C9994"/>
                </a:solidFill>
              </a:rPr>
              <a:t>04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04470A-4B46-45E4-848E-9291313BE9AB}"/>
              </a:ext>
            </a:extLst>
          </p:cNvPr>
          <p:cNvSpPr>
            <a:spLocks noGrp="1"/>
          </p:cNvSpPr>
          <p:nvPr/>
        </p:nvSpPr>
        <p:spPr>
          <a:xfrm>
            <a:off x="13335000" y="396240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61"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1F2423"/>
                </a:solidFill>
              </a:defRPr>
            </a:pPr>
            <a:r>
              <a:rPr sz="3450" b="1" i="0">
                <a:solidFill>
                  <a:srgbClr val="1F2423"/>
                </a:solidFill>
              </a:rPr>
              <a:t>Knowledge Service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F63DA0-5BFB-459A-89E0-4D73606240F9}"/>
              </a:ext>
            </a:extLst>
          </p:cNvPr>
          <p:cNvSpPr>
            <a:spLocks noGrp="1"/>
          </p:cNvSpPr>
          <p:nvPr/>
        </p:nvSpPr>
        <p:spPr>
          <a:xfrm>
            <a:off x="13335000" y="523875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271"/>
          </a:bodyPr>
          <a:lstStyle/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workshops</a:t>
            </a:r>
          </a:p>
          <a:p>
            <a:pPr algn="l">
              <a:lnSpc>
                <a:spcPct val="128000"/>
              </a:lnSpc>
              <a:buNone/>
              <a:defRPr sz="1875" b="1" i="0">
                <a:solidFill>
                  <a:srgbClr val="168265"/>
                </a:solidFill>
              </a:defRPr>
            </a:pPr>
            <a:r>
              <a:rPr sz="1875" b="1" i="0">
                <a:solidFill>
                  <a:srgbClr val="168265"/>
                </a:solidFill>
              </a:rPr>
              <a:t>consults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4A4623-1116-4F79-9D21-9394CD1943BA}"/>
              </a:ext>
            </a:extLst>
          </p:cNvPr>
          <p:cNvSpPr>
            <a:spLocks noGrp="1"/>
          </p:cNvSpPr>
          <p:nvPr/>
        </p:nvSpPr>
        <p:spPr>
          <a:xfrm>
            <a:off x="13335000" y="65913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09"/>
          </a:bodyPr>
          <a:lstStyle/>
          <a:p>
            <a:pPr algn="l">
              <a:lnSpc>
                <a:spcPct val="112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courses, family systems coaching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0172113-0ED1-4FE6-8FFA-01D9F75E46BF}"/>
              </a:ext>
            </a:extLst>
          </p:cNvPr>
          <p:cNvSpPr>
            <a:spLocks noGrp="1"/>
          </p:cNvSpPr>
          <p:nvPr/>
        </p:nvSpPr>
        <p:spPr>
          <a:xfrm>
            <a:off x="990600" y="8096250"/>
            <a:ext cx="16306800" cy="781050"/>
          </a:xfrm>
          <a:prstGeom prst="roundRect">
            <a:avLst>
              <a:gd name="adj" fmla="val 9756"/>
            </a:avLst>
          </a:prstGeom>
          <a:solidFill>
            <a:srgbClr val="E8F5F5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79B495-5C5A-451D-987C-EF449F9BE13B}"/>
              </a:ext>
            </a:extLst>
          </p:cNvPr>
          <p:cNvSpPr>
            <a:spLocks noGrp="1"/>
          </p:cNvSpPr>
          <p:nvPr/>
        </p:nvSpPr>
        <p:spPr>
          <a:xfrm>
            <a:off x="1333500" y="8286750"/>
            <a:ext cx="1562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813"/>
          </a:bodyPr>
          <a:lstStyle/>
          <a:p>
            <a:pPr algn="ctr">
              <a:lnSpc>
                <a:spcPct val="112000"/>
              </a:lnSpc>
              <a:buNone/>
              <a:defRPr sz="2925" b="1" i="0">
                <a:solidFill>
                  <a:srgbClr val="1F2423"/>
                </a:solidFill>
              </a:defRPr>
            </a:pPr>
            <a:r>
              <a:rPr sz="2925" b="1" i="0">
                <a:solidFill>
                  <a:srgbClr val="1F2423"/>
                </a:solidFill>
              </a:rPr>
              <a:t>Same identity passport, different income paths.</a:t>
            </a: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EAFC348A-FD0F-4577-96DF-BCE0B6726B6E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346940D-79CB-49CE-ABBE-079E045CA312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Market routing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FF48E0-7E39-4DE9-9847-943DC479BA79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3:05-4:10 / 05</a:t>
            </a:r>
          </a:p>
        </p:txBody>
      </p:sp>
    </p:spTree>
    <p:extLst>
      <p:ext uri="{BB962C8B-B14F-4D97-AF65-F5344CB8AC3E}">
        <p14:creationId xmlns:p14="http://schemas.microsoft.com/office/powerpoint/2010/main" val="209657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1EDD2C96-EE7E-4B8C-B9AA-50E0B1C93E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184E86-DB36-405C-9836-B310448A8389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F0A8A74-117C-4406-90FA-AE10F8DB4571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033479-20C8-40D7-AA81-6815FA32946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155D51C-65BD-493F-82AC-ADE4647F270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54C28C4-4032-47CD-97A0-184688666DA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8882E80-37F0-43D1-B97E-4D425F54AB60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60576A8-200D-48A4-A0C8-5EB86790CFC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50435B9-137F-458B-938D-7E1208559FD5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9F68015-FCDB-489B-8570-AE5C59F1361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2753173-77DB-4944-8CFF-35550355341F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3F785E8-9949-4CFF-8A96-9AE8639B01AB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41A0845-2A26-4283-A65C-D9CF5D21266A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8E719C9-25F6-4F0B-B334-874AD0A74F2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CCCDC32-A3D4-4E8F-A40E-050BC5141AB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A03B2C1-DB53-4E21-8CDE-E220856471A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1AE614F-02FC-44E8-988C-7B91DE7CDDD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B91D155-ED2B-4FAD-ACBB-1F571BFEFFFE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6F5EA7E-A6DA-4609-9688-A9881FAAF376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CDA7C5-D183-4FDD-B91A-5C55EEAF43EE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Comparison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FE7C-9CDD-45C0-A63C-4A5B6E0CD020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4478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Industries already monetize uniqueness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84FE95-20A7-4E22-BA52-601B41D6D9A2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4000500" cy="704850"/>
          </a:xfrm>
          <a:prstGeom prst="rect">
            <a:avLst/>
          </a:prstGeom>
          <a:solidFill>
            <a:srgbClr val="E8F5F5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D957C7-009D-413E-8528-6B93C0888721}"/>
              </a:ext>
            </a:extLst>
          </p:cNvPr>
          <p:cNvSpPr>
            <a:spLocks noGrp="1"/>
          </p:cNvSpPr>
          <p:nvPr/>
        </p:nvSpPr>
        <p:spPr>
          <a:xfrm>
            <a:off x="1162050" y="2886075"/>
            <a:ext cx="3657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Labor Identity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2A075-CA4F-47FE-93E9-692814730BDF}"/>
              </a:ext>
            </a:extLst>
          </p:cNvPr>
          <p:cNvSpPr>
            <a:spLocks noGrp="1"/>
          </p:cNvSpPr>
          <p:nvPr/>
        </p:nvSpPr>
        <p:spPr>
          <a:xfrm>
            <a:off x="4991100" y="2714625"/>
            <a:ext cx="4953000" cy="704850"/>
          </a:xfrm>
          <a:prstGeom prst="rect">
            <a:avLst/>
          </a:prstGeom>
          <a:solidFill>
            <a:srgbClr val="E8F5F5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39A573-BF6F-4E07-8D1D-633C4C3F0F2B}"/>
              </a:ext>
            </a:extLst>
          </p:cNvPr>
          <p:cNvSpPr>
            <a:spLocks noGrp="1"/>
          </p:cNvSpPr>
          <p:nvPr/>
        </p:nvSpPr>
        <p:spPr>
          <a:xfrm>
            <a:off x="5162550" y="288607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Distinctiveness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5B885-CDA2-43BB-9C86-5104542AD48F}"/>
              </a:ext>
            </a:extLst>
          </p:cNvPr>
          <p:cNvSpPr>
            <a:spLocks noGrp="1"/>
          </p:cNvSpPr>
          <p:nvPr/>
        </p:nvSpPr>
        <p:spPr>
          <a:xfrm>
            <a:off x="9944100" y="2714625"/>
            <a:ext cx="3048000" cy="704850"/>
          </a:xfrm>
          <a:prstGeom prst="rect">
            <a:avLst/>
          </a:prstGeom>
          <a:solidFill>
            <a:srgbClr val="E8F5F5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BB7330-3F72-4C2A-92A9-0042ED3B1A74}"/>
              </a:ext>
            </a:extLst>
          </p:cNvPr>
          <p:cNvSpPr>
            <a:spLocks noGrp="1"/>
          </p:cNvSpPr>
          <p:nvPr/>
        </p:nvSpPr>
        <p:spPr>
          <a:xfrm>
            <a:off x="10115550" y="288607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Example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5398A6-49D2-4A23-BCA3-A7891150D89C}"/>
              </a:ext>
            </a:extLst>
          </p:cNvPr>
          <p:cNvSpPr>
            <a:spLocks noGrp="1"/>
          </p:cNvSpPr>
          <p:nvPr/>
        </p:nvSpPr>
        <p:spPr>
          <a:xfrm>
            <a:off x="12992100" y="2714625"/>
            <a:ext cx="4305300" cy="704850"/>
          </a:xfrm>
          <a:prstGeom prst="rect">
            <a:avLst/>
          </a:prstGeom>
          <a:solidFill>
            <a:srgbClr val="E8F5F5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FAB58A-E4A9-487F-86ED-D1992FD319CD}"/>
              </a:ext>
            </a:extLst>
          </p:cNvPr>
          <p:cNvSpPr>
            <a:spLocks noGrp="1"/>
          </p:cNvSpPr>
          <p:nvPr/>
        </p:nvSpPr>
        <p:spPr>
          <a:xfrm>
            <a:off x="13163550" y="2886075"/>
            <a:ext cx="3962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Digital Tool -&gt; Value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30E153-B8B8-4B82-8C7D-7B015409C86C}"/>
              </a:ext>
            </a:extLst>
          </p:cNvPr>
          <p:cNvSpPr>
            <a:spLocks noGrp="1"/>
          </p:cNvSpPr>
          <p:nvPr/>
        </p:nvSpPr>
        <p:spPr>
          <a:xfrm>
            <a:off x="990600" y="3419475"/>
            <a:ext cx="4000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A96319-6E5A-44D9-B3ED-669C70A0C3FB}"/>
              </a:ext>
            </a:extLst>
          </p:cNvPr>
          <p:cNvSpPr>
            <a:spLocks noGrp="1"/>
          </p:cNvSpPr>
          <p:nvPr/>
        </p:nvSpPr>
        <p:spPr>
          <a:xfrm>
            <a:off x="1162050" y="3590925"/>
            <a:ext cx="36576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Virtual-world designer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09F4C3-120F-42C3-92CA-850E07E9990B}"/>
              </a:ext>
            </a:extLst>
          </p:cNvPr>
          <p:cNvSpPr>
            <a:spLocks noGrp="1"/>
          </p:cNvSpPr>
          <p:nvPr/>
        </p:nvSpPr>
        <p:spPr>
          <a:xfrm>
            <a:off x="4991100" y="3419475"/>
            <a:ext cx="4953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6E6EA8-0665-47E7-B5E4-0224BAA3A2BD}"/>
              </a:ext>
            </a:extLst>
          </p:cNvPr>
          <p:cNvSpPr>
            <a:spLocks noGrp="1"/>
          </p:cNvSpPr>
          <p:nvPr/>
        </p:nvSpPr>
        <p:spPr>
          <a:xfrm>
            <a:off x="5162550" y="3590925"/>
            <a:ext cx="4610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spatial intuition + worldbuilding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C7C908-50BF-4111-8267-4DF657B7B813}"/>
              </a:ext>
            </a:extLst>
          </p:cNvPr>
          <p:cNvSpPr>
            <a:spLocks noGrp="1"/>
          </p:cNvSpPr>
          <p:nvPr/>
        </p:nvSpPr>
        <p:spPr>
          <a:xfrm>
            <a:off x="9944100" y="3419475"/>
            <a:ext cx="3048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E112B6-E829-43FD-9E2F-DAD9829D4F78}"/>
              </a:ext>
            </a:extLst>
          </p:cNvPr>
          <p:cNvSpPr>
            <a:spLocks noGrp="1"/>
          </p:cNvSpPr>
          <p:nvPr/>
        </p:nvSpPr>
        <p:spPr>
          <a:xfrm>
            <a:off x="10115550" y="3590925"/>
            <a:ext cx="2705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Roblox maps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4B9320-2EDB-4ABB-8FB8-08C51CB6939C}"/>
              </a:ext>
            </a:extLst>
          </p:cNvPr>
          <p:cNvSpPr>
            <a:spLocks noGrp="1"/>
          </p:cNvSpPr>
          <p:nvPr/>
        </p:nvSpPr>
        <p:spPr>
          <a:xfrm>
            <a:off x="12992100" y="3419475"/>
            <a:ext cx="43053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D60367-4F5E-4922-8BD1-28767096898A}"/>
              </a:ext>
            </a:extLst>
          </p:cNvPr>
          <p:cNvSpPr>
            <a:spLocks noGrp="1"/>
          </p:cNvSpPr>
          <p:nvPr/>
        </p:nvSpPr>
        <p:spPr>
          <a:xfrm>
            <a:off x="13163550" y="3590925"/>
            <a:ext cx="3962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game engines + AI -&gt; creator revenue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0E5CF1-C67A-44C9-8F97-A1DB5BBF089B}"/>
              </a:ext>
            </a:extLst>
          </p:cNvPr>
          <p:cNvSpPr>
            <a:spLocks noGrp="1"/>
          </p:cNvSpPr>
          <p:nvPr/>
        </p:nvSpPr>
        <p:spPr>
          <a:xfrm>
            <a:off x="990600" y="4905375"/>
            <a:ext cx="4000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C082C7-1518-40AA-844E-9271290C3F2D}"/>
              </a:ext>
            </a:extLst>
          </p:cNvPr>
          <p:cNvSpPr>
            <a:spLocks noGrp="1"/>
          </p:cNvSpPr>
          <p:nvPr/>
        </p:nvSpPr>
        <p:spPr>
          <a:xfrm>
            <a:off x="1162050" y="5076825"/>
            <a:ext cx="36576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Knowledge coach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64763-DC25-4D51-9EAA-C1E032F7064D}"/>
              </a:ext>
            </a:extLst>
          </p:cNvPr>
          <p:cNvSpPr>
            <a:spLocks noGrp="1"/>
          </p:cNvSpPr>
          <p:nvPr/>
        </p:nvSpPr>
        <p:spPr>
          <a:xfrm>
            <a:off x="4991100" y="4905375"/>
            <a:ext cx="4953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02DD29-B002-422E-9F3B-3E30D4A18DDC}"/>
              </a:ext>
            </a:extLst>
          </p:cNvPr>
          <p:cNvSpPr>
            <a:spLocks noGrp="1"/>
          </p:cNvSpPr>
          <p:nvPr/>
        </p:nvSpPr>
        <p:spPr>
          <a:xfrm>
            <a:off x="5162550" y="5076825"/>
            <a:ext cx="4610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empathy + explanation style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D8D049-2439-4B41-9F92-D3B48BA77182}"/>
              </a:ext>
            </a:extLst>
          </p:cNvPr>
          <p:cNvSpPr>
            <a:spLocks noGrp="1"/>
          </p:cNvSpPr>
          <p:nvPr/>
        </p:nvSpPr>
        <p:spPr>
          <a:xfrm>
            <a:off x="9944100" y="4905375"/>
            <a:ext cx="3048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628C16-0DED-4D91-B174-986A346C8DA1}"/>
              </a:ext>
            </a:extLst>
          </p:cNvPr>
          <p:cNvSpPr>
            <a:spLocks noGrp="1"/>
          </p:cNvSpPr>
          <p:nvPr/>
        </p:nvSpPr>
        <p:spPr>
          <a:xfrm>
            <a:off x="10115550" y="5076825"/>
            <a:ext cx="2705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bilingual tutor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BE50A2-E0FB-46A1-BF52-FDF50988207E}"/>
              </a:ext>
            </a:extLst>
          </p:cNvPr>
          <p:cNvSpPr>
            <a:spLocks noGrp="1"/>
          </p:cNvSpPr>
          <p:nvPr/>
        </p:nvSpPr>
        <p:spPr>
          <a:xfrm>
            <a:off x="12992100" y="4905375"/>
            <a:ext cx="43053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775EAA-E95C-4A2A-8F2E-AC9FC7DCA235}"/>
              </a:ext>
            </a:extLst>
          </p:cNvPr>
          <p:cNvSpPr>
            <a:spLocks noGrp="1"/>
          </p:cNvSpPr>
          <p:nvPr/>
        </p:nvSpPr>
        <p:spPr>
          <a:xfrm>
            <a:off x="13163550" y="5076825"/>
            <a:ext cx="3962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F2423"/>
                </a:solidFill>
              </a:defRPr>
            </a:pPr>
            <a:r>
              <a:rPr sz="1875" b="0" i="0">
                <a:solidFill>
                  <a:srgbClr val="1F2423"/>
                </a:solidFill>
              </a:rPr>
              <a:t>AI lesson plans -&gt; workshops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C2E6252-174C-4D18-923F-9C0A9F5BE1B3}"/>
              </a:ext>
            </a:extLst>
          </p:cNvPr>
          <p:cNvSpPr>
            <a:spLocks noGrp="1"/>
          </p:cNvSpPr>
          <p:nvPr/>
        </p:nvSpPr>
        <p:spPr>
          <a:xfrm>
            <a:off x="990600" y="6391275"/>
            <a:ext cx="4000500" cy="1485900"/>
          </a:xfrm>
          <a:prstGeom prst="rect">
            <a:avLst/>
          </a:prstGeom>
          <a:solidFill>
            <a:srgbClr val="FFF0BD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AB6E80-49A2-4C2E-AF1A-14CD9CCB9C56}"/>
              </a:ext>
            </a:extLst>
          </p:cNvPr>
          <p:cNvSpPr>
            <a:spLocks noGrp="1"/>
          </p:cNvSpPr>
          <p:nvPr/>
        </p:nvSpPr>
        <p:spPr>
          <a:xfrm>
            <a:off x="1162050" y="6562725"/>
            <a:ext cx="36576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2175" b="1" i="0">
                <a:solidFill>
                  <a:srgbClr val="C9901C"/>
                </a:solidFill>
              </a:defRPr>
            </a:pPr>
            <a:r>
              <a:rPr sz="2175" b="1" i="0">
                <a:solidFill>
                  <a:srgbClr val="C9901C"/>
                </a:solidFill>
              </a:rPr>
              <a:t>Homemaker / IDBLOOM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2193C7-87D0-4937-A757-306DAEAE5F5B}"/>
              </a:ext>
            </a:extLst>
          </p:cNvPr>
          <p:cNvSpPr>
            <a:spLocks noGrp="1"/>
          </p:cNvSpPr>
          <p:nvPr/>
        </p:nvSpPr>
        <p:spPr>
          <a:xfrm>
            <a:off x="4991100" y="6391275"/>
            <a:ext cx="4953000" cy="1485900"/>
          </a:xfrm>
          <a:prstGeom prst="rect">
            <a:avLst/>
          </a:prstGeom>
          <a:solidFill>
            <a:srgbClr val="FFF0BD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7408D9-5882-430C-8335-A2CC03C8BCE2}"/>
              </a:ext>
            </a:extLst>
          </p:cNvPr>
          <p:cNvSpPr>
            <a:spLocks noGrp="1"/>
          </p:cNvSpPr>
          <p:nvPr/>
        </p:nvSpPr>
        <p:spPr>
          <a:xfrm>
            <a:off x="5162550" y="6562725"/>
            <a:ext cx="4610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routine design + care + taste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B6FA69-A1C9-4E57-91D6-C0E623FF61BA}"/>
              </a:ext>
            </a:extLst>
          </p:cNvPr>
          <p:cNvSpPr>
            <a:spLocks noGrp="1"/>
          </p:cNvSpPr>
          <p:nvPr/>
        </p:nvSpPr>
        <p:spPr>
          <a:xfrm>
            <a:off x="9944100" y="6391275"/>
            <a:ext cx="3048000" cy="1485900"/>
          </a:xfrm>
          <a:prstGeom prst="rect">
            <a:avLst/>
          </a:prstGeom>
          <a:solidFill>
            <a:srgbClr val="FFF0BD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41E0E8-0B1A-4559-B698-0EAEFDC919B6}"/>
              </a:ext>
            </a:extLst>
          </p:cNvPr>
          <p:cNvSpPr>
            <a:spLocks noGrp="1"/>
          </p:cNvSpPr>
          <p:nvPr/>
        </p:nvSpPr>
        <p:spPr>
          <a:xfrm>
            <a:off x="10115550" y="6562725"/>
            <a:ext cx="2705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Mrs. Chan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269E82-A0F6-4E91-9508-443A4DB13D95}"/>
              </a:ext>
            </a:extLst>
          </p:cNvPr>
          <p:cNvSpPr>
            <a:spLocks noGrp="1"/>
          </p:cNvSpPr>
          <p:nvPr/>
        </p:nvSpPr>
        <p:spPr>
          <a:xfrm>
            <a:off x="12992100" y="6391275"/>
            <a:ext cx="4305300" cy="1485900"/>
          </a:xfrm>
          <a:prstGeom prst="rect">
            <a:avLst/>
          </a:prstGeom>
          <a:solidFill>
            <a:srgbClr val="FFF0BD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5EC84C-CB3C-43A7-9D11-59EF78C40615}"/>
              </a:ext>
            </a:extLst>
          </p:cNvPr>
          <p:cNvSpPr>
            <a:spLocks noGrp="1"/>
          </p:cNvSpPr>
          <p:nvPr/>
        </p:nvSpPr>
        <p:spPr>
          <a:xfrm>
            <a:off x="13163550" y="6562725"/>
            <a:ext cx="3962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AI identity engine -&gt; local services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C08D954-D3FC-4ECB-94AC-8676EB4F3ADD}"/>
              </a:ext>
            </a:extLst>
          </p:cNvPr>
          <p:cNvSpPr>
            <a:spLocks noGrp="1"/>
          </p:cNvSpPr>
          <p:nvPr/>
        </p:nvSpPr>
        <p:spPr>
          <a:xfrm>
            <a:off x="990600" y="8191500"/>
            <a:ext cx="8858250" cy="685800"/>
          </a:xfrm>
          <a:prstGeom prst="roundRect">
            <a:avLst>
              <a:gd name="adj" fmla="val 11111"/>
            </a:avLst>
          </a:prstGeom>
          <a:solidFill>
            <a:srgbClr val="FFF2C7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CCAAA-419C-465D-A299-65B57DF8F02F}"/>
              </a:ext>
            </a:extLst>
          </p:cNvPr>
          <p:cNvSpPr>
            <a:spLocks noGrp="1"/>
          </p:cNvSpPr>
          <p:nvPr/>
        </p:nvSpPr>
        <p:spPr>
          <a:xfrm>
            <a:off x="1276350" y="83629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84"/>
          </a:bodyPr>
          <a:lstStyle/>
          <a:p>
            <a:pPr algn="l">
              <a:lnSpc>
                <a:spcPct val="112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The missing tool is not labor matching. It is identity translation.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70CA94CE-1E22-4B79-862E-B8A59F09138F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9D4E7D3-CCF6-4682-864E-33E4FA16471F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Why this is timely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B123A6-4498-4D82-9292-DB104D7874E7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4:10-5:00 / 06</a:t>
            </a:r>
          </a:p>
        </p:txBody>
      </p:sp>
    </p:spTree>
    <p:extLst>
      <p:ext uri="{BB962C8B-B14F-4D97-AF65-F5344CB8AC3E}">
        <p14:creationId xmlns:p14="http://schemas.microsoft.com/office/powerpoint/2010/main" val="110725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F92EE55-62C4-4B13-8CA7-B52866B5F6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C1D05-21F3-4D24-8379-52277FF4783F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10EC695-B843-422D-BEA0-44DB62B6470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E938E12-C4A3-49DD-BE9B-003C782F8D0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4EB3906-1CE3-4F5D-BBE1-5B4ECDA5A400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D6F9D8F-6251-473A-AEF5-12BD5391DAE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798C6A9-B999-4D56-940E-C481ED973DB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F24D966-3D55-475B-97FB-4779D8203EA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7185780-4366-4026-9582-26EE17503F67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7286BB9-6697-43A2-BF9A-DC763E635F62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1AB6B08-0964-47C7-A46F-95422B4AAFA9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05D1DD0-63AF-48E8-B8CE-2DABFF8A9BF5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CB2CDBA-69BD-49A7-8917-A566BE9732F2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6715AF6-31ED-4ACF-B374-3828512BD6E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725678F-234F-45E5-9470-4C8C5E1253D3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D974B97-9D05-4D7B-ACAD-2CD73256320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D1BC11C-3760-40A5-8871-1E14BF080EA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71B595E-2F74-4A73-9820-D527A41BF087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C4B1950-5FB0-4BDC-A32F-36F66867C6DC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5E076E-6830-49DD-B279-C21E1D2DDD4A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Model +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A839B8-4408-4C29-AD2F-A9B45DCEE67B}"/>
              </a:ext>
            </a:extLst>
          </p:cNvPr>
          <p:cNvSpPr>
            <a:spLocks noGrp="1"/>
          </p:cNvSpPr>
          <p:nvPr/>
        </p:nvSpPr>
        <p:spPr>
          <a:xfrm>
            <a:off x="990600" y="1162050"/>
            <a:ext cx="144780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06"/>
          </a:bodyPr>
          <a:lstStyle/>
          <a:p>
            <a:pPr algn="l">
              <a:lnSpc>
                <a:spcPct val="94000"/>
              </a:lnSpc>
              <a:buNone/>
              <a:defRPr sz="5850" b="1" i="0">
                <a:solidFill>
                  <a:srgbClr val="1F2423"/>
                </a:solidFill>
              </a:defRPr>
            </a:pPr>
            <a:r>
              <a:rPr sz="5850" b="1" i="0">
                <a:solidFill>
                  <a:srgbClr val="1F2423"/>
                </a:solidFill>
              </a:rPr>
              <a:t>The model works only if trust is designed 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BA95CE-610D-4861-BD08-3FE2E757A572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3810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BE287E-9612-4444-9AE5-86B7D766700C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User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468EA0-57B2-438E-BA09-5B2B42E631A3}"/>
              </a:ext>
            </a:extLst>
          </p:cNvPr>
          <p:cNvSpPr>
            <a:spLocks noGrp="1"/>
          </p:cNvSpPr>
          <p:nvPr/>
        </p:nvSpPr>
        <p:spPr>
          <a:xfrm>
            <a:off x="1257300" y="4038600"/>
            <a:ext cx="3105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0" i="0">
                <a:solidFill>
                  <a:srgbClr val="5E6966"/>
                </a:solidFill>
              </a:defRPr>
            </a:pPr>
            <a:r>
              <a:rPr sz="2100" b="0" i="0">
                <a:solidFill>
                  <a:srgbClr val="5E6966"/>
                </a:solidFill>
              </a:rPr>
              <a:t>identity, income, confidence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58BBF6E-2BC6-4A2C-9D0B-F7023693C05F}"/>
              </a:ext>
            </a:extLst>
          </p:cNvPr>
          <p:cNvSpPr>
            <a:spLocks noGrp="1"/>
          </p:cNvSpPr>
          <p:nvPr/>
        </p:nvSpPr>
        <p:spPr>
          <a:xfrm>
            <a:off x="5029200" y="2952750"/>
            <a:ext cx="3810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624F8D-81B8-4D62-AB00-7B963BE0D301}"/>
              </a:ext>
            </a:extLst>
          </p:cNvPr>
          <p:cNvSpPr>
            <a:spLocks noGrp="1"/>
          </p:cNvSpPr>
          <p:nvPr/>
        </p:nvSpPr>
        <p:spPr>
          <a:xfrm>
            <a:off x="5295900" y="3276600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Platform revenue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E98804-25B3-46EA-9C9A-F282A2677868}"/>
              </a:ext>
            </a:extLst>
          </p:cNvPr>
          <p:cNvSpPr>
            <a:spLocks noGrp="1"/>
          </p:cNvSpPr>
          <p:nvPr/>
        </p:nvSpPr>
        <p:spPr>
          <a:xfrm>
            <a:off x="5295900" y="4038600"/>
            <a:ext cx="3105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73"/>
          </a:bodyPr>
          <a:lstStyle/>
          <a:p>
            <a:pPr algn="l">
              <a:lnSpc>
                <a:spcPct val="112000"/>
              </a:lnSpc>
              <a:buNone/>
              <a:defRPr sz="2100" b="0" i="0">
                <a:solidFill>
                  <a:srgbClr val="5E6966"/>
                </a:solidFill>
              </a:defRPr>
            </a:pPr>
            <a:r>
              <a:rPr sz="2100" b="0" i="0">
                <a:solidFill>
                  <a:srgbClr val="5E6966"/>
                </a:solidFill>
              </a:rPr>
              <a:t>10-15% commission, premium exports, certificates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2FF68A2-D89D-449D-849F-CD4F3C70288E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3810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FEAD9A-F16F-4C45-93EF-573F18A4F447}"/>
              </a:ext>
            </a:extLst>
          </p:cNvPr>
          <p:cNvSpPr>
            <a:spLocks noGrp="1"/>
          </p:cNvSpPr>
          <p:nvPr/>
        </p:nvSpPr>
        <p:spPr>
          <a:xfrm>
            <a:off x="9334500" y="3276600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Validation KPI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66EA73A-3D07-41E8-9C98-58CCB28C4951}"/>
              </a:ext>
            </a:extLst>
          </p:cNvPr>
          <p:cNvSpPr>
            <a:spLocks noGrp="1"/>
          </p:cNvSpPr>
          <p:nvPr/>
        </p:nvSpPr>
        <p:spPr>
          <a:xfrm>
            <a:off x="13106400" y="2952750"/>
            <a:ext cx="38100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F257CE-4503-48BD-9FF6-B52316D7CE26}"/>
              </a:ext>
            </a:extLst>
          </p:cNvPr>
          <p:cNvSpPr>
            <a:spLocks noGrp="1"/>
          </p:cNvSpPr>
          <p:nvPr/>
        </p:nvSpPr>
        <p:spPr>
          <a:xfrm>
            <a:off x="13373100" y="3276600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Safeguards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B09E48-B1CC-4E77-9CBC-05B0EC742CC7}"/>
              </a:ext>
            </a:extLst>
          </p:cNvPr>
          <p:cNvSpPr>
            <a:spLocks noGrp="1"/>
          </p:cNvSpPr>
          <p:nvPr/>
        </p:nvSpPr>
        <p:spPr>
          <a:xfrm>
            <a:off x="13373100" y="4038600"/>
            <a:ext cx="3105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948"/>
          </a:bodyPr>
          <a:lstStyle/>
          <a:p>
            <a:pPr algn="l">
              <a:lnSpc>
                <a:spcPct val="112000"/>
              </a:lnSpc>
              <a:buNone/>
              <a:defRPr sz="2100" b="0" i="0">
                <a:solidFill>
                  <a:srgbClr val="5E6966"/>
                </a:solidFill>
              </a:defRPr>
            </a:pPr>
            <a:r>
              <a:rPr sz="2100" b="0" i="0">
                <a:solidFill>
                  <a:srgbClr val="5E6966"/>
                </a:solidFill>
              </a:rPr>
              <a:t>consent, privacy, user confirmation, quality loop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DC376-DFD9-456C-9343-403B2C70C981}"/>
              </a:ext>
            </a:extLst>
          </p:cNvPr>
          <p:cNvSpPr>
            <a:spLocks noGrp="1"/>
          </p:cNvSpPr>
          <p:nvPr/>
        </p:nvSpPr>
        <p:spPr>
          <a:xfrm>
            <a:off x="9334500" y="3943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79"/>
          </a:bodyPr>
          <a:lstStyle/>
          <a:p>
            <a:pPr algn="l">
              <a:lnSpc>
                <a:spcPct val="112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booking rate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EF9660-70A4-4F33-B151-25B6DFAF82FC}"/>
              </a:ext>
            </a:extLst>
          </p:cNvPr>
          <p:cNvSpPr>
            <a:spLocks noGrp="1"/>
          </p:cNvSpPr>
          <p:nvPr/>
        </p:nvSpPr>
        <p:spPr>
          <a:xfrm>
            <a:off x="10896600" y="4019550"/>
            <a:ext cx="1428750" cy="114300"/>
          </a:xfrm>
          <a:prstGeom prst="rect">
            <a:avLst/>
          </a:prstGeom>
          <a:solidFill>
            <a:srgbClr val="E3E8E6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DBE341-453A-4C01-9113-326350663CCF}"/>
              </a:ext>
            </a:extLst>
          </p:cNvPr>
          <p:cNvSpPr>
            <a:spLocks noGrp="1"/>
          </p:cNvSpPr>
          <p:nvPr/>
        </p:nvSpPr>
        <p:spPr>
          <a:xfrm>
            <a:off x="10896600" y="4019550"/>
            <a:ext cx="1028700" cy="1143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6A8886-8C60-403D-8EAB-5319B503275B}"/>
              </a:ext>
            </a:extLst>
          </p:cNvPr>
          <p:cNvSpPr>
            <a:spLocks noGrp="1"/>
          </p:cNvSpPr>
          <p:nvPr/>
        </p:nvSpPr>
        <p:spPr>
          <a:xfrm>
            <a:off x="9334500" y="4438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79"/>
          </a:bodyPr>
          <a:lstStyle/>
          <a:p>
            <a:pPr algn="l">
              <a:lnSpc>
                <a:spcPct val="112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self-worth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43F93B-E59B-4B87-B2DB-D73F110943AD}"/>
              </a:ext>
            </a:extLst>
          </p:cNvPr>
          <p:cNvSpPr>
            <a:spLocks noGrp="1"/>
          </p:cNvSpPr>
          <p:nvPr/>
        </p:nvSpPr>
        <p:spPr>
          <a:xfrm>
            <a:off x="10896600" y="4514850"/>
            <a:ext cx="1428750" cy="114300"/>
          </a:xfrm>
          <a:prstGeom prst="rect">
            <a:avLst/>
          </a:prstGeom>
          <a:solidFill>
            <a:srgbClr val="E3E8E6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4EC4A1-BA07-4E07-850A-E1B08CA600DD}"/>
              </a:ext>
            </a:extLst>
          </p:cNvPr>
          <p:cNvSpPr>
            <a:spLocks noGrp="1"/>
          </p:cNvSpPr>
          <p:nvPr/>
        </p:nvSpPr>
        <p:spPr>
          <a:xfrm>
            <a:off x="10896600" y="4514850"/>
            <a:ext cx="1200150" cy="1143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7CE6E9-C863-49F1-AFBD-65D459A77E21}"/>
              </a:ext>
            </a:extLst>
          </p:cNvPr>
          <p:cNvSpPr>
            <a:spLocks noGrp="1"/>
          </p:cNvSpPr>
          <p:nvPr/>
        </p:nvSpPr>
        <p:spPr>
          <a:xfrm>
            <a:off x="9334500" y="4933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79"/>
          </a:bodyPr>
          <a:lstStyle/>
          <a:p>
            <a:pPr algn="l">
              <a:lnSpc>
                <a:spcPct val="112000"/>
              </a:lnSpc>
              <a:buNone/>
              <a:defRPr sz="1575" b="1" i="0">
                <a:solidFill>
                  <a:srgbClr val="168265"/>
                </a:solidFill>
              </a:defRPr>
            </a:pPr>
            <a:r>
              <a:rPr sz="1575" b="1" i="0">
                <a:solidFill>
                  <a:srgbClr val="168265"/>
                </a:solidFill>
              </a:rPr>
              <a:t>willingness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BC3E45-75F9-4409-9BCC-EFB2AEFAC9C5}"/>
              </a:ext>
            </a:extLst>
          </p:cNvPr>
          <p:cNvSpPr>
            <a:spLocks noGrp="1"/>
          </p:cNvSpPr>
          <p:nvPr/>
        </p:nvSpPr>
        <p:spPr>
          <a:xfrm>
            <a:off x="10896600" y="5010150"/>
            <a:ext cx="1428750" cy="114300"/>
          </a:xfrm>
          <a:prstGeom prst="rect">
            <a:avLst/>
          </a:prstGeom>
          <a:solidFill>
            <a:srgbClr val="E3E8E6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391E155-6E9A-4EF9-BC92-BD1F8A02E87F}"/>
              </a:ext>
            </a:extLst>
          </p:cNvPr>
          <p:cNvSpPr>
            <a:spLocks noGrp="1"/>
          </p:cNvSpPr>
          <p:nvPr/>
        </p:nvSpPr>
        <p:spPr>
          <a:xfrm>
            <a:off x="10896600" y="5010150"/>
            <a:ext cx="914400" cy="114300"/>
          </a:xfrm>
          <a:prstGeom prst="rect">
            <a:avLst/>
          </a:prstGeom>
          <a:solidFill>
            <a:srgbClr val="138AA0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6F654ED-D456-401B-AEC5-D612C26482C6}"/>
              </a:ext>
            </a:extLst>
          </p:cNvPr>
          <p:cNvSpPr>
            <a:spLocks noGrp="1"/>
          </p:cNvSpPr>
          <p:nvPr/>
        </p:nvSpPr>
        <p:spPr>
          <a:xfrm>
            <a:off x="990600" y="6238875"/>
            <a:ext cx="7867650" cy="1809750"/>
          </a:xfrm>
          <a:prstGeom prst="roundRect">
            <a:avLst>
              <a:gd name="adj" fmla="val 4211"/>
            </a:avLst>
          </a:prstGeom>
          <a:solidFill>
            <a:srgbClr val="FFF4D8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0D2D7B-1D22-4374-AEC2-B74DD6E810B5}"/>
              </a:ext>
            </a:extLst>
          </p:cNvPr>
          <p:cNvSpPr>
            <a:spLocks noGrp="1"/>
          </p:cNvSpPr>
          <p:nvPr/>
        </p:nvSpPr>
        <p:spPr>
          <a:xfrm>
            <a:off x="1314450" y="65341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Privacy first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80DF29-761D-4837-847D-87DE261CACEE}"/>
              </a:ext>
            </a:extLst>
          </p:cNvPr>
          <p:cNvSpPr>
            <a:spLocks noGrp="1"/>
          </p:cNvSpPr>
          <p:nvPr/>
        </p:nvSpPr>
        <p:spPr>
          <a:xfrm>
            <a:off x="1314450" y="71818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094"/>
          </a:bodyPr>
          <a:lstStyle/>
          <a:p>
            <a:pPr algn="l">
              <a:lnSpc>
                <a:spcPct val="112000"/>
              </a:lnSpc>
              <a:buNone/>
              <a:defRPr sz="2025" b="0" i="0">
                <a:solidFill>
                  <a:srgbClr val="5E6966"/>
                </a:solidFill>
              </a:defRPr>
            </a:pPr>
            <a:r>
              <a:rPr sz="2025" b="0" i="0">
                <a:solidFill>
                  <a:srgbClr val="5E6966"/>
                </a:solidFill>
              </a:rPr>
              <a:t>Authorized inputs only. User confirms before anything is published.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999DC71-3A11-4413-91AE-33368CED0FC7}"/>
              </a:ext>
            </a:extLst>
          </p:cNvPr>
          <p:cNvSpPr>
            <a:spLocks noGrp="1"/>
          </p:cNvSpPr>
          <p:nvPr/>
        </p:nvSpPr>
        <p:spPr>
          <a:xfrm>
            <a:off x="9163050" y="6238875"/>
            <a:ext cx="7867650" cy="1809750"/>
          </a:xfrm>
          <a:prstGeom prst="roundRect">
            <a:avLst>
              <a:gd name="adj" fmla="val 4211"/>
            </a:avLst>
          </a:prstGeom>
          <a:solidFill>
            <a:srgbClr val="FFF4D8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2EDD9D-4102-4C41-86FD-C195892AFBF8}"/>
              </a:ext>
            </a:extLst>
          </p:cNvPr>
          <p:cNvSpPr>
            <a:spLocks noGrp="1"/>
          </p:cNvSpPr>
          <p:nvPr/>
        </p:nvSpPr>
        <p:spPr>
          <a:xfrm>
            <a:off x="9486900" y="65341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98"/>
          </a:bodyPr>
          <a:lstStyle/>
          <a:p>
            <a:pPr algn="l">
              <a:lnSpc>
                <a:spcPct val="112000"/>
              </a:lnSpc>
              <a:buNone/>
              <a:defRPr sz="2700" b="1" i="0">
                <a:solidFill>
                  <a:srgbClr val="1F2423"/>
                </a:solidFill>
              </a:defRPr>
            </a:pPr>
            <a:r>
              <a:rPr sz="2700" b="1" i="0">
                <a:solidFill>
                  <a:srgbClr val="1F2423"/>
                </a:solidFill>
              </a:rPr>
              <a:t>Quality standard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6CCAE-9C61-4A9B-885E-4F21EF69E8DB}"/>
              </a:ext>
            </a:extLst>
          </p:cNvPr>
          <p:cNvSpPr>
            <a:spLocks noGrp="1"/>
          </p:cNvSpPr>
          <p:nvPr/>
        </p:nvSpPr>
        <p:spPr>
          <a:xfrm>
            <a:off x="9486900" y="71818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583"/>
          </a:bodyPr>
          <a:lstStyle/>
          <a:p>
            <a:pPr algn="l">
              <a:lnSpc>
                <a:spcPct val="112000"/>
              </a:lnSpc>
              <a:buNone/>
              <a:defRPr sz="2025" b="0" i="0">
                <a:solidFill>
                  <a:srgbClr val="5E6966"/>
                </a:solidFill>
              </a:defRPr>
            </a:pPr>
            <a:r>
              <a:rPr sz="2025" b="0" i="0">
                <a:solidFill>
                  <a:srgbClr val="5E6966"/>
                </a:solidFill>
              </a:rPr>
              <a:t>Before-after evidence, ratings, and basic safety guidance protect buyers and users.</a:t>
            </a: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57FD2B63-043F-4417-B272-EA978A512751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B6F6271-A386-4703-8591-278AD11B2656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Business model + ethics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0DFC40-3742-466C-B711-16F01C442624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5:00-5:55 / 07</a:t>
            </a:r>
          </a:p>
        </p:txBody>
      </p:sp>
    </p:spTree>
    <p:extLst>
      <p:ext uri="{BB962C8B-B14F-4D97-AF65-F5344CB8AC3E}">
        <p14:creationId xmlns:p14="http://schemas.microsoft.com/office/powerpoint/2010/main" val="46041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6BF94213-C571-4E7A-97BA-7D6C12E10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A9983-AAF5-453F-B153-8307197A9067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720B94D-82EF-4F98-A620-23897914F4C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EE30F5A-3C77-4695-8800-7C1C96CFF92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C0987BB-6D40-49ED-A12E-F2E12F1E2F6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2037334-B5BC-4340-A1A1-AB395E79776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54DF48D-B3D0-4B5F-B434-A249079425D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796AFDC-896F-44D2-AAE7-B1BB6B30CFD5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AE5E499-DF66-48AB-B87D-A1CF705D965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B9CC41B-14CD-4130-89D2-777BD5E0D1CF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D222782-4B80-4FB0-B747-FFEDE91BC292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02A8D94-0F58-4336-8ED0-CC4FCCC8CC4A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8AF2B0B-F7DB-4EEC-B18C-E61C6FC31C96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C0721D3-4384-4D2F-BB6E-E56EEF12B21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2C790D5-991D-43A9-8CD2-465F07FA636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3E7F7C0-3E3B-4FBB-B46A-FE2B25F527C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D0CD4F4-9D89-4B21-BBDB-DDB72ECAA5D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50F4AA3-6EEC-4A5C-899B-9A1DC5194890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0AC4E5B-3660-4AEF-BED9-29BE73D88983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5F8745-AFB3-4F5A-A206-C7A0EA325CB6}"/>
              </a:ext>
            </a:extLst>
          </p:cNvPr>
          <p:cNvSpPr>
            <a:spLocks noGrp="1"/>
          </p:cNvSpPr>
          <p:nvPr/>
        </p:nvSpPr>
        <p:spPr>
          <a:xfrm>
            <a:off x="990600" y="14287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645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68265"/>
                </a:solidFill>
              </a:defRPr>
            </a:pPr>
            <a:r>
              <a:rPr sz="1800" b="1" i="0">
                <a:solidFill>
                  <a:srgbClr val="168265"/>
                </a:solidFill>
              </a:rPr>
              <a:t>Closing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E13C98-9739-4B0A-9B52-9FEAB8FE88F8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7429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93"/>
          </a:bodyPr>
          <a:lstStyle/>
          <a:p>
            <a:pPr algn="l">
              <a:lnSpc>
                <a:spcPct val="94000"/>
              </a:lnSpc>
              <a:buNone/>
              <a:defRPr sz="5400" b="1" i="0">
                <a:solidFill>
                  <a:srgbClr val="1F2423"/>
                </a:solidFill>
              </a:defRPr>
            </a:pPr>
            <a:r>
              <a:rPr sz="5400" b="1" i="0">
                <a:solidFill>
                  <a:srgbClr val="1F2423"/>
                </a:solidFill>
              </a:rPr>
              <a:t>Hidden labor -&gt; recognized opportunity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AF4E36-CFC2-4198-8073-489FB73584B5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7429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977"/>
          </a:bodyPr>
          <a:lstStyle/>
          <a:p>
            <a:pPr algn="l">
              <a:lnSpc>
                <a:spcPct val="102000"/>
              </a:lnSpc>
              <a:buNone/>
              <a:defRPr sz="4350" b="1" i="0">
                <a:solidFill>
                  <a:srgbClr val="1F2423"/>
                </a:solidFill>
              </a:defRPr>
            </a:pPr>
            <a:r>
              <a:rPr sz="4350" b="1" i="0">
                <a:solidFill>
                  <a:srgbClr val="1F2423"/>
                </a:solidFill>
              </a:rPr>
              <a:t>AI should not only replace labor. It should reveal the value society has failed to see.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C5CCD5-0D96-4F16-9198-B829B99F1AD6}"/>
              </a:ext>
            </a:extLst>
          </p:cNvPr>
          <p:cNvSpPr>
            <a:spLocks noGrp="1"/>
          </p:cNvSpPr>
          <p:nvPr/>
        </p:nvSpPr>
        <p:spPr>
          <a:xfrm>
            <a:off x="990600" y="68580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317"/>
          </a:bodyPr>
          <a:lstStyle/>
          <a:p>
            <a:pPr algn="l">
              <a:lnSpc>
                <a:spcPct val="112000"/>
              </a:lnSpc>
              <a:buNone/>
              <a:defRPr sz="2250" b="1" i="0">
                <a:solidFill>
                  <a:srgbClr val="168265"/>
                </a:solidFill>
              </a:defRPr>
            </a:pPr>
            <a:r>
              <a:rPr sz="2250" b="1" i="0">
                <a:solidFill>
                  <a:srgbClr val="168265"/>
                </a:solidFill>
              </a:rPr>
              <a:t>IDBLOOM: idbloom.tobysneko.com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D0EEC9-B67F-473E-A86B-FC5948E6FD9D}"/>
              </a:ext>
            </a:extLst>
          </p:cNvPr>
          <p:cNvSpPr>
            <a:spLocks noGrp="1"/>
          </p:cNvSpPr>
          <p:nvPr/>
        </p:nvSpPr>
        <p:spPr>
          <a:xfrm>
            <a:off x="9239250" y="2038350"/>
            <a:ext cx="7810500" cy="600075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CCD5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60ACF8-A32D-494C-B761-A74C179A1732}"/>
              </a:ext>
            </a:extLst>
          </p:cNvPr>
          <p:cNvSpPr>
            <a:spLocks noGrp="1"/>
          </p:cNvSpPr>
          <p:nvPr/>
        </p:nvSpPr>
        <p:spPr>
          <a:xfrm>
            <a:off x="9239250" y="2038350"/>
            <a:ext cx="7810500" cy="723900"/>
          </a:xfrm>
          <a:prstGeom prst="rect">
            <a:avLst/>
          </a:prstGeom>
          <a:solidFill>
            <a:srgbClr val="F1F7F5"/>
          </a:solidFill>
          <a:ln w="9525">
            <a:solidFill>
              <a:srgbClr val="D2DDD9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6B7D2D5-FCA0-4A06-9FC4-D82F19944B15}"/>
              </a:ext>
            </a:extLst>
          </p:cNvPr>
          <p:cNvSpPr>
            <a:spLocks noGrp="1"/>
          </p:cNvSpPr>
          <p:nvPr/>
        </p:nvSpPr>
        <p:spPr>
          <a:xfrm>
            <a:off x="9544050" y="2266950"/>
            <a:ext cx="171450" cy="171450"/>
          </a:xfrm>
          <a:prstGeom prst="ellipse">
            <a:avLst/>
          </a:prstGeom>
          <a:solidFill>
            <a:srgbClr val="D64D68"/>
          </a:solidFill>
          <a:ln w="9525">
            <a:solidFill>
              <a:srgbClr val="D64D68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A7A3878-C073-4541-ADC1-13AC73BB3FE7}"/>
              </a:ext>
            </a:extLst>
          </p:cNvPr>
          <p:cNvSpPr>
            <a:spLocks noGrp="1"/>
          </p:cNvSpPr>
          <p:nvPr/>
        </p:nvSpPr>
        <p:spPr>
          <a:xfrm>
            <a:off x="9810750" y="2266950"/>
            <a:ext cx="171450" cy="171450"/>
          </a:xfrm>
          <a:prstGeom prst="ellipse">
            <a:avLst/>
          </a:prstGeom>
          <a:solidFill>
            <a:srgbClr val="C9901C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76C27D-493E-4942-9995-79690FAF2A20}"/>
              </a:ext>
            </a:extLst>
          </p:cNvPr>
          <p:cNvSpPr>
            <a:spLocks noGrp="1"/>
          </p:cNvSpPr>
          <p:nvPr/>
        </p:nvSpPr>
        <p:spPr>
          <a:xfrm>
            <a:off x="10077450" y="2266950"/>
            <a:ext cx="171450" cy="171450"/>
          </a:xfrm>
          <a:prstGeom prst="ellipse">
            <a:avLst/>
          </a:prstGeom>
          <a:solidFill>
            <a:srgbClr val="168265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AC110C-A9E1-4BE0-A3F6-5C6423EB9CC5}"/>
              </a:ext>
            </a:extLst>
          </p:cNvPr>
          <p:cNvSpPr>
            <a:spLocks noGrp="1"/>
          </p:cNvSpPr>
          <p:nvPr/>
        </p:nvSpPr>
        <p:spPr>
          <a:xfrm>
            <a:off x="10572750" y="2228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838"/>
          </a:bodyPr>
          <a:lstStyle/>
          <a:p>
            <a:pPr algn="l">
              <a:lnSpc>
                <a:spcPct val="112000"/>
              </a:lnSpc>
              <a:buNone/>
              <a:defRPr sz="2100" b="1" i="0">
                <a:solidFill>
                  <a:srgbClr val="1F2423"/>
                </a:solidFill>
              </a:defRPr>
            </a:pPr>
            <a:r>
              <a:rPr sz="2100" b="1" i="0">
                <a:solidFill>
                  <a:srgbClr val="1F2423"/>
                </a:solidFill>
              </a:rPr>
              <a:t>Demand Delivery Output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E9A527B-F4EE-45C9-BA09-EABC1A4CDA93}"/>
              </a:ext>
            </a:extLst>
          </p:cNvPr>
          <p:cNvSpPr>
            <a:spLocks noGrp="1"/>
          </p:cNvSpPr>
          <p:nvPr/>
        </p:nvSpPr>
        <p:spPr>
          <a:xfrm>
            <a:off x="14763750" y="21907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E8F5F5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E35ACD-69DE-4326-8C15-97BC2E5B8F39}"/>
              </a:ext>
            </a:extLst>
          </p:cNvPr>
          <p:cNvSpPr>
            <a:spLocks noGrp="1"/>
          </p:cNvSpPr>
          <p:nvPr/>
        </p:nvSpPr>
        <p:spPr>
          <a:xfrm>
            <a:off x="14954250" y="22669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1257"/>
          </a:bodyPr>
          <a:lstStyle/>
          <a:p>
            <a:pPr algn="ctr">
              <a:lnSpc>
                <a:spcPct val="112000"/>
              </a:lnSpc>
              <a:buNone/>
              <a:defRPr sz="1350" b="1" i="0">
                <a:solidFill>
                  <a:srgbClr val="138AA0"/>
                </a:solidFill>
              </a:defRPr>
            </a:pPr>
            <a:r>
              <a:rPr sz="1350" b="1" i="0">
                <a:solidFill>
                  <a:srgbClr val="138AA0"/>
                </a:solidFill>
              </a:rPr>
              <a:t>MATCH READY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F6A8885-F0D4-4AC8-997E-4C752654040D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3028950" cy="4362450"/>
          </a:xfrm>
          <a:prstGeom prst="roundRect">
            <a:avLst>
              <a:gd name="adj" fmla="val 2516"/>
            </a:avLst>
          </a:prstGeom>
          <a:solidFill>
            <a:srgbClr val="FBFDFC"/>
          </a:solidFill>
          <a:ln w="9525">
            <a:solidFill>
              <a:srgbClr val="D9DFD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F60245-ED7F-4E6E-BEE4-C66C055158FE}"/>
              </a:ext>
            </a:extLst>
          </p:cNvPr>
          <p:cNvSpPr>
            <a:spLocks noGrp="1"/>
          </p:cNvSpPr>
          <p:nvPr/>
        </p:nvSpPr>
        <p:spPr>
          <a:xfrm>
            <a:off x="9848850" y="3390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84"/>
          </a:bodyPr>
          <a:lstStyle/>
          <a:p>
            <a:pPr algn="l">
              <a:lnSpc>
                <a:spcPct val="112000"/>
              </a:lnSpc>
              <a:buNone/>
              <a:defRPr sz="2400" b="1" i="0">
                <a:solidFill>
                  <a:srgbClr val="1F2423"/>
                </a:solidFill>
              </a:defRPr>
            </a:pPr>
            <a:r>
              <a:rPr sz="2400" b="1" i="0">
                <a:solidFill>
                  <a:srgbClr val="1F2423"/>
                </a:solidFill>
              </a:rPr>
              <a:t>Mrs. Chan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37762F-E9E3-4351-BA46-5C49219298C1}"/>
              </a:ext>
            </a:extLst>
          </p:cNvPr>
          <p:cNvSpPr>
            <a:spLocks noGrp="1"/>
          </p:cNvSpPr>
          <p:nvPr/>
        </p:nvSpPr>
        <p:spPr>
          <a:xfrm>
            <a:off x="9848850" y="38290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582"/>
          </a:bodyPr>
          <a:lstStyle/>
          <a:p>
            <a:pPr algn="l">
              <a:lnSpc>
                <a:spcPct val="112000"/>
              </a:lnSpc>
              <a:buNone/>
              <a:defRPr sz="1725" b="0" i="0">
                <a:solidFill>
                  <a:srgbClr val="5E6966"/>
                </a:solidFill>
              </a:defRPr>
            </a:pPr>
            <a:r>
              <a:rPr sz="1725" b="0" i="0">
                <a:solidFill>
                  <a:srgbClr val="5E6966"/>
                </a:solidFill>
              </a:rPr>
              <a:t>Household Operations Specialist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06745FC-4717-4A21-AAE1-E70150F61F5C}"/>
              </a:ext>
            </a:extLst>
          </p:cNvPr>
          <p:cNvSpPr>
            <a:spLocks noGrp="1"/>
          </p:cNvSpPr>
          <p:nvPr/>
        </p:nvSpPr>
        <p:spPr>
          <a:xfrm>
            <a:off x="9848850" y="46291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4AD7B1-67B2-4653-A000-4D93A85FE8EB}"/>
              </a:ext>
            </a:extLst>
          </p:cNvPr>
          <p:cNvSpPr>
            <a:spLocks noGrp="1"/>
          </p:cNvSpPr>
          <p:nvPr/>
        </p:nvSpPr>
        <p:spPr>
          <a:xfrm>
            <a:off x="10001250" y="4733925"/>
            <a:ext cx="188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571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Space Planning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9DE2F83-763C-4A6B-BDD4-47C8FEE51428}"/>
              </a:ext>
            </a:extLst>
          </p:cNvPr>
          <p:cNvSpPr>
            <a:spLocks noGrp="1"/>
          </p:cNvSpPr>
          <p:nvPr/>
        </p:nvSpPr>
        <p:spPr>
          <a:xfrm>
            <a:off x="9848850" y="52578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C3A1A5-6ECA-4BD7-AF41-9B3BDC40F026}"/>
              </a:ext>
            </a:extLst>
          </p:cNvPr>
          <p:cNvSpPr>
            <a:spLocks noGrp="1"/>
          </p:cNvSpPr>
          <p:nvPr/>
        </p:nvSpPr>
        <p:spPr>
          <a:xfrm>
            <a:off x="10001250" y="5362575"/>
            <a:ext cx="188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571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Care Workflow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267E42-21B6-4F71-AF92-91A629DF0306}"/>
              </a:ext>
            </a:extLst>
          </p:cNvPr>
          <p:cNvSpPr>
            <a:spLocks noGrp="1"/>
          </p:cNvSpPr>
          <p:nvPr/>
        </p:nvSpPr>
        <p:spPr>
          <a:xfrm>
            <a:off x="9848850" y="58864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A2A68B-05EF-43EA-8440-4D007BC97105}"/>
              </a:ext>
            </a:extLst>
          </p:cNvPr>
          <p:cNvSpPr>
            <a:spLocks noGrp="1"/>
          </p:cNvSpPr>
          <p:nvPr/>
        </p:nvSpPr>
        <p:spPr>
          <a:xfrm>
            <a:off x="10001250" y="5991225"/>
            <a:ext cx="188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571"/>
          </a:bodyPr>
          <a:lstStyle/>
          <a:p>
            <a:pPr algn="l">
              <a:lnSpc>
                <a:spcPct val="112000"/>
              </a:lnSpc>
              <a:buNone/>
              <a:defRPr sz="1875" b="1" i="0">
                <a:solidFill>
                  <a:srgbClr val="1F2423"/>
                </a:solidFill>
              </a:defRPr>
            </a:pPr>
            <a:r>
              <a:rPr sz="1875" b="1" i="0">
                <a:solidFill>
                  <a:srgbClr val="1F2423"/>
                </a:solidFill>
              </a:rPr>
              <a:t>Kitchen Reset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EFCFC3-4D6A-4070-95B2-7A25CEDBFB3D}"/>
              </a:ext>
            </a:extLst>
          </p:cNvPr>
          <p:cNvSpPr>
            <a:spLocks noGrp="1"/>
          </p:cNvSpPr>
          <p:nvPr/>
        </p:nvSpPr>
        <p:spPr>
          <a:xfrm>
            <a:off x="9848850" y="67056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234"/>
          </a:bodyPr>
          <a:lstStyle/>
          <a:p>
            <a:pPr algn="l">
              <a:lnSpc>
                <a:spcPct val="112000"/>
              </a:lnSpc>
              <a:buNone/>
              <a:defRPr sz="1650" b="0" i="0">
                <a:solidFill>
                  <a:srgbClr val="5E6966"/>
                </a:solidFill>
              </a:defRPr>
            </a:pPr>
            <a:r>
              <a:rPr sz="1650" b="0" i="0">
                <a:solidFill>
                  <a:srgbClr val="5E6966"/>
                </a:solidFill>
              </a:rPr>
              <a:t>Evidence: before-after storage system + family routine improvement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68F71D9-BB0E-4D60-8ED5-94B05E279A8A}"/>
              </a:ext>
            </a:extLst>
          </p:cNvPr>
          <p:cNvSpPr>
            <a:spLocks noGrp="1"/>
          </p:cNvSpPr>
          <p:nvPr/>
        </p:nvSpPr>
        <p:spPr>
          <a:xfrm>
            <a:off x="12934950" y="3105150"/>
            <a:ext cx="3676650" cy="2038350"/>
          </a:xfrm>
          <a:prstGeom prst="roundRect">
            <a:avLst>
              <a:gd name="adj" fmla="val 3738"/>
            </a:avLst>
          </a:prstGeom>
          <a:solidFill>
            <a:srgbClr val="EAF5EE"/>
          </a:solidFill>
          <a:ln w="9525">
            <a:solidFill>
              <a:srgbClr val="168265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FAABD6-27DF-4B30-AEE3-394F4BA44843}"/>
              </a:ext>
            </a:extLst>
          </p:cNvPr>
          <p:cNvSpPr>
            <a:spLocks noGrp="1"/>
          </p:cNvSpPr>
          <p:nvPr/>
        </p:nvSpPr>
        <p:spPr>
          <a:xfrm>
            <a:off x="13201650" y="34099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516"/>
          </a:bodyPr>
          <a:lstStyle/>
          <a:p>
            <a:pPr algn="l">
              <a:lnSpc>
                <a:spcPct val="112000"/>
              </a:lnSpc>
              <a:buNone/>
              <a:defRPr sz="2250" b="1" i="0">
                <a:solidFill>
                  <a:srgbClr val="1F2423"/>
                </a:solidFill>
              </a:defRPr>
            </a:pPr>
            <a:r>
              <a:rPr sz="2250" b="1" i="0">
                <a:solidFill>
                  <a:srgbClr val="1F2423"/>
                </a:solidFill>
              </a:rPr>
              <a:t>Local Demand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6C50FC-5E48-4748-873C-DDA024A4EBFF}"/>
              </a:ext>
            </a:extLst>
          </p:cNvPr>
          <p:cNvSpPr>
            <a:spLocks noGrp="1"/>
          </p:cNvSpPr>
          <p:nvPr/>
        </p:nvSpPr>
        <p:spPr>
          <a:xfrm>
            <a:off x="13201650" y="39433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613"/>
          </a:bodyPr>
          <a:lstStyle/>
          <a:p>
            <a:pPr algn="l">
              <a:lnSpc>
                <a:spcPct val="112000"/>
              </a:lnSpc>
              <a:buNone/>
              <a:defRPr sz="2025" b="1" i="0">
                <a:solidFill>
                  <a:srgbClr val="1F2423"/>
                </a:solidFill>
              </a:defRPr>
            </a:pPr>
            <a:r>
              <a:rPr sz="2025" b="1" i="0">
                <a:solidFill>
                  <a:srgbClr val="1F2423"/>
                </a:solidFill>
              </a:rPr>
              <a:t>2-hour Small Kitchen Reset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B36750-02DC-4A5A-8478-04731D15DB4C}"/>
              </a:ext>
            </a:extLst>
          </p:cNvPr>
          <p:cNvSpPr>
            <a:spLocks noGrp="1"/>
          </p:cNvSpPr>
          <p:nvPr/>
        </p:nvSpPr>
        <p:spPr>
          <a:xfrm>
            <a:off x="13201650" y="45529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280"/>
          </a:bodyPr>
          <a:lstStyle/>
          <a:p>
            <a:pPr algn="l">
              <a:lnSpc>
                <a:spcPct val="112000"/>
              </a:lnSpc>
              <a:buNone/>
              <a:defRPr sz="2550" b="1" i="0">
                <a:solidFill>
                  <a:srgbClr val="C9901C"/>
                </a:solidFill>
              </a:defRPr>
            </a:pPr>
            <a:r>
              <a:rPr sz="2550" b="1" i="0">
                <a:solidFill>
                  <a:srgbClr val="C9901C"/>
                </a:solidFill>
              </a:rPr>
              <a:t>HKD 450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C240BA3-07AA-4C25-BAEE-07E91CE36F43}"/>
              </a:ext>
            </a:extLst>
          </p:cNvPr>
          <p:cNvSpPr>
            <a:spLocks noGrp="1"/>
          </p:cNvSpPr>
          <p:nvPr/>
        </p:nvSpPr>
        <p:spPr>
          <a:xfrm>
            <a:off x="12934950" y="5448300"/>
            <a:ext cx="3676650" cy="914400"/>
          </a:xfrm>
          <a:prstGeom prst="roundRect">
            <a:avLst>
              <a:gd name="adj" fmla="val 8333"/>
            </a:avLst>
          </a:prstGeom>
          <a:solidFill>
            <a:srgbClr val="FFF4D8"/>
          </a:solidFill>
          <a:ln w="9525">
            <a:solidFill>
              <a:srgbClr val="C9901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B264DD-E51C-4B89-ABF2-B2567A765C40}"/>
              </a:ext>
            </a:extLst>
          </p:cNvPr>
          <p:cNvSpPr>
            <a:spLocks noGrp="1"/>
          </p:cNvSpPr>
          <p:nvPr/>
        </p:nvSpPr>
        <p:spPr>
          <a:xfrm>
            <a:off x="13201650" y="56197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044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F2423"/>
                </a:solidFill>
              </a:defRPr>
            </a:pPr>
            <a:r>
              <a:rPr sz="1800" b="1" i="0">
                <a:solidFill>
                  <a:srgbClr val="1F2423"/>
                </a:solidFill>
              </a:rPr>
              <a:t>Route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85F8CE-4E06-4331-8A5D-01AC05211D03}"/>
              </a:ext>
            </a:extLst>
          </p:cNvPr>
          <p:cNvSpPr>
            <a:spLocks noGrp="1"/>
          </p:cNvSpPr>
          <p:nvPr/>
        </p:nvSpPr>
        <p:spPr>
          <a:xfrm>
            <a:off x="14192250" y="56197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699"/>
          </a:bodyPr>
          <a:lstStyle/>
          <a:p>
            <a:pPr algn="l">
              <a:lnSpc>
                <a:spcPct val="112000"/>
              </a:lnSpc>
              <a:buNone/>
              <a:defRPr sz="1650" b="0" i="0">
                <a:solidFill>
                  <a:srgbClr val="5E6966"/>
                </a:solidFill>
              </a:defRPr>
            </a:pPr>
            <a:r>
              <a:rPr sz="1650" b="0" i="0">
                <a:solidFill>
                  <a:srgbClr val="5E6966"/>
                </a:solidFill>
              </a:rPr>
              <a:t>community groups -&gt; local booking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7D39D5C-C691-4E75-AC16-E4C72AD441BC}"/>
              </a:ext>
            </a:extLst>
          </p:cNvPr>
          <p:cNvSpPr>
            <a:spLocks noGrp="1"/>
          </p:cNvSpPr>
          <p:nvPr/>
        </p:nvSpPr>
        <p:spPr>
          <a:xfrm>
            <a:off x="12934950" y="6610350"/>
            <a:ext cx="3676650" cy="857250"/>
          </a:xfrm>
          <a:prstGeom prst="roundRect">
            <a:avLst>
              <a:gd name="adj" fmla="val 8889"/>
            </a:avLst>
          </a:prstGeom>
          <a:solidFill>
            <a:srgbClr val="F1F7F5"/>
          </a:solidFill>
          <a:ln w="9525">
            <a:solidFill>
              <a:srgbClr val="138AA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B79AA4-84AC-45FE-8F7A-26EC2437E2AF}"/>
              </a:ext>
            </a:extLst>
          </p:cNvPr>
          <p:cNvSpPr>
            <a:spLocks noGrp="1"/>
          </p:cNvSpPr>
          <p:nvPr/>
        </p:nvSpPr>
        <p:spPr>
          <a:xfrm>
            <a:off x="13201650" y="67818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044"/>
          </a:bodyPr>
          <a:lstStyle/>
          <a:p>
            <a:pPr algn="l">
              <a:lnSpc>
                <a:spcPct val="112000"/>
              </a:lnSpc>
              <a:buNone/>
              <a:defRPr sz="1800" b="1" i="0">
                <a:solidFill>
                  <a:srgbClr val="1F2423"/>
                </a:solidFill>
              </a:defRPr>
            </a:pPr>
            <a:r>
              <a:rPr sz="1800" b="1" i="0">
                <a:solidFill>
                  <a:srgbClr val="1F2423"/>
                </a:solidFill>
              </a:rPr>
              <a:t>Next action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C01CC5-2DB2-473E-82EB-4D2C8718D282}"/>
              </a:ext>
            </a:extLst>
          </p:cNvPr>
          <p:cNvSpPr>
            <a:spLocks noGrp="1"/>
          </p:cNvSpPr>
          <p:nvPr/>
        </p:nvSpPr>
        <p:spPr>
          <a:xfrm>
            <a:off x="14744700" y="67818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699"/>
          </a:bodyPr>
          <a:lstStyle/>
          <a:p>
            <a:pPr algn="l">
              <a:lnSpc>
                <a:spcPct val="112000"/>
              </a:lnSpc>
              <a:buNone/>
              <a:defRPr sz="1650" b="0" i="0">
                <a:solidFill>
                  <a:srgbClr val="5E6966"/>
                </a:solidFill>
              </a:defRPr>
            </a:pPr>
            <a:r>
              <a:rPr sz="1650" b="0" i="0">
                <a:solidFill>
                  <a:srgbClr val="5E6966"/>
                </a:solidFill>
              </a:rPr>
              <a:t>confirm availability and publish</a:t>
            </a:r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2BC9779E-D860-4805-AFA3-FDFEAFC4575B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BB32DD-A318-4BD6-954E-4B32E86A8466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IDBLOOM / final message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1FDB82-FECF-4E67-BE4A-5FC61240F5D5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5:55-6:30 / 08</a:t>
            </a:r>
          </a:p>
        </p:txBody>
      </p:sp>
    </p:spTree>
    <p:extLst>
      <p:ext uri="{BB962C8B-B14F-4D97-AF65-F5344CB8AC3E}">
        <p14:creationId xmlns:p14="http://schemas.microsoft.com/office/powerpoint/2010/main" val="1078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5D6DDF9-8D1E-49FB-B561-9B069073CD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EEF7F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B17167-03E0-4A26-A027-312673E55E21}"/>
              </a:ext>
            </a:extLst>
          </p:cNvPr>
          <p:cNvSpPr>
            <a:spLocks noGrp="1"/>
          </p:cNvSpPr>
          <p:nvPr/>
        </p:nvSpPr>
        <p:spPr>
          <a:xfrm>
            <a:off x="13525500" y="0"/>
            <a:ext cx="4762500" cy="10287000"/>
          </a:xfrm>
          <a:prstGeom prst="rect">
            <a:avLst/>
          </a:prstGeom>
          <a:solidFill>
            <a:srgbClr val="FFF8E6"/>
          </a:solidFill>
          <a:ln w="0">
            <a:noFill/>
            <a:prstDash val="solid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042CA16-FDAC-4CB1-A751-350962B7008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2F87996-31DD-4695-B18F-C99D62570FE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3131380-AF11-4111-AB99-6FC01205F3C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0441436-114D-4C66-AEAB-72626D12A26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74D50E5-E331-497D-9740-705701B6581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337D24F-133A-4DD7-9365-368E19FA220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A0D2E69-3E79-4290-AE20-F7272A15988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01A2832-BDBA-4F57-99A0-05AD6B0C519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9104D13-AA1F-4AEB-82B6-4067A117F536}"/>
              </a:ext>
            </a:extLst>
          </p:cNvPr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D57511A-D4BF-4A44-9ADD-6EDA6267B7FE}"/>
              </a:ext>
            </a:extLst>
          </p:cNvPr>
          <p:cNvSpPr>
            <a:spLocks noGrp="1"/>
          </p:cNvSpPr>
          <p:nvPr/>
        </p:nvSpPr>
        <p:spPr>
          <a:xfrm>
            <a:off x="15240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D0E1620-443B-462E-966E-FA6775383DA9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0" cy="1028700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FCF34EC-238B-4BAC-A452-724234EC857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76D54D6-A914-4F0A-B3BC-7865EFB87153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AF7EEB3C-89E2-44E3-94DE-909C7DBA924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1A02528-236C-496D-B005-1AEFEF0DBAB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D3B80C2-CCA5-4D52-9840-215C12E03131}"/>
              </a:ext>
            </a:extLst>
          </p:cNvPr>
          <p:cNvSpPr>
            <a:spLocks noGrp="1"/>
          </p:cNvSpPr>
          <p:nvPr/>
        </p:nvSpPr>
        <p:spPr>
          <a:xfrm>
            <a:off x="0" y="7620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5BF007C-26F0-4E16-B34E-E6BA185175E2}"/>
              </a:ext>
            </a:extLst>
          </p:cNvPr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EDF0EE"/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2DFB302-9B8A-45FD-950D-7325B88B3C0C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0" cy="9182100"/>
          </a:xfrm>
          <a:prstGeom prst="line">
            <a:avLst/>
          </a:prstGeom>
          <a:noFill/>
          <a:ln w="28575">
            <a:solidFill>
              <a:srgbClr val="1F242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B3676E-F177-4293-AD6D-6597FDB57473}"/>
              </a:ext>
            </a:extLst>
          </p:cNvPr>
          <p:cNvSpPr>
            <a:spLocks noGrp="1"/>
          </p:cNvSpPr>
          <p:nvPr/>
        </p:nvSpPr>
        <p:spPr>
          <a:xfrm>
            <a:off x="1504950" y="476250"/>
            <a:ext cx="1257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656"/>
          </a:bodyPr>
          <a:lstStyle/>
          <a:p>
            <a:pPr algn="l">
              <a:lnSpc>
                <a:spcPct val="112000"/>
              </a:lnSpc>
              <a:buNone/>
              <a:defRPr sz="3150" b="1" i="0">
                <a:solidFill>
                  <a:srgbClr val="1F2423"/>
                </a:solidFill>
              </a:defRPr>
            </a:pPr>
            <a:r>
              <a:rPr sz="3150" b="1" i="0">
                <a:solidFill>
                  <a:srgbClr val="1F2423"/>
                </a:solidFill>
              </a:rPr>
              <a:t>AI Tool Acknowledgement &amp; Usage Transparency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60B2FC-FDAF-4BB8-8703-9242E519581F}"/>
              </a:ext>
            </a:extLst>
          </p:cNvPr>
          <p:cNvSpPr>
            <a:spLocks noGrp="1"/>
          </p:cNvSpPr>
          <p:nvPr/>
        </p:nvSpPr>
        <p:spPr>
          <a:xfrm>
            <a:off x="1504950" y="1104900"/>
            <a:ext cx="14763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400" b="1" i="1">
                <a:solidFill>
                  <a:srgbClr val="1F2423"/>
                </a:solidFill>
              </a:defRPr>
            </a:pPr>
            <a:r>
              <a:rPr sz="2400" b="1" i="1">
                <a:solidFill>
                  <a:srgbClr val="1F2423"/>
                </a:solidFill>
              </a:rPr>
              <a:t>In accordance with competition guidelines, AI tools were utilized solely as supporting mechanisms under strict student guidance, supervision, and iterative adaptation: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C5F786-66F6-40AF-9FBF-4B3BD34F86A3}"/>
              </a:ext>
            </a:extLst>
          </p:cNvPr>
          <p:cNvSpPr>
            <a:spLocks noGrp="1"/>
          </p:cNvSpPr>
          <p:nvPr/>
        </p:nvSpPr>
        <p:spPr>
          <a:xfrm>
            <a:off x="1504950" y="2476500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250" b="0" i="1">
                <a:solidFill>
                  <a:srgbClr val="1F2423"/>
                </a:solidFill>
              </a:defRPr>
            </a:pPr>
            <a:r>
              <a:rPr sz="2250" b="0" i="1">
                <a:solidFill>
                  <a:srgbClr val="1F2423"/>
                </a:solidFill>
              </a:rPr>
              <a:t>AI Tool / Platform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9892E82E-11F7-4AF3-A16F-29396E609CFF}"/>
              </a:ext>
            </a:extLst>
          </p:cNvPr>
          <p:cNvSpPr>
            <a:spLocks noGrp="1"/>
          </p:cNvSpPr>
          <p:nvPr/>
        </p:nvSpPr>
        <p:spPr>
          <a:xfrm>
            <a:off x="1504950" y="3524250"/>
            <a:ext cx="4476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E45E23-3BB0-4099-98F6-8B599F78BACD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250" b="0" i="1">
                <a:solidFill>
                  <a:srgbClr val="1F2423"/>
                </a:solidFill>
              </a:defRPr>
            </a:pPr>
            <a:r>
              <a:rPr sz="2250" b="0" i="1">
                <a:solidFill>
                  <a:srgbClr val="1F2423"/>
                </a:solidFill>
              </a:rPr>
              <a:t>Role &amp; Scope of Involvement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968DE74-3688-441D-8D9B-335A391B8786}"/>
              </a:ext>
            </a:extLst>
          </p:cNvPr>
          <p:cNvSpPr>
            <a:spLocks noGrp="1"/>
          </p:cNvSpPr>
          <p:nvPr/>
        </p:nvSpPr>
        <p:spPr>
          <a:xfrm>
            <a:off x="6477000" y="3524250"/>
            <a:ext cx="476250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0EBB03-FE72-4E90-B898-55EE35C156F8}"/>
              </a:ext>
            </a:extLst>
          </p:cNvPr>
          <p:cNvSpPr>
            <a:spLocks noGrp="1"/>
          </p:cNvSpPr>
          <p:nvPr/>
        </p:nvSpPr>
        <p:spPr>
          <a:xfrm>
            <a:off x="11734800" y="2476500"/>
            <a:ext cx="561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987"/>
          </a:bodyPr>
          <a:lstStyle/>
          <a:p>
            <a:pPr algn="l">
              <a:lnSpc>
                <a:spcPct val="118000"/>
              </a:lnSpc>
              <a:buNone/>
              <a:defRPr sz="2250" b="0" i="1">
                <a:solidFill>
                  <a:srgbClr val="1F2423"/>
                </a:solidFill>
              </a:defRPr>
            </a:pPr>
            <a:r>
              <a:rPr sz="2250" b="0" i="1">
                <a:solidFill>
                  <a:srgbClr val="1F2423"/>
                </a:solidFill>
              </a:rPr>
              <a:t>Student Input &amp; Adaptation</a:t>
            </a:r>
          </a:p>
          <a:p>
            <a:pPr algn="l">
              <a:lnSpc>
                <a:spcPct val="118000"/>
              </a:lnSpc>
              <a:buNone/>
              <a:defRPr sz="2250" b="0" i="1">
                <a:solidFill>
                  <a:srgbClr val="1F2423"/>
                </a:solidFill>
              </a:defRPr>
            </a:pPr>
            <a:r>
              <a:rPr sz="2250" b="0" i="1">
                <a:solidFill>
                  <a:srgbClr val="1F2423"/>
                </a:solidFill>
              </a:rPr>
              <a:t>(Core Content)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729001C6-F96B-48C2-AF39-726D10D59F39}"/>
              </a:ext>
            </a:extLst>
          </p:cNvPr>
          <p:cNvSpPr>
            <a:spLocks noGrp="1"/>
          </p:cNvSpPr>
          <p:nvPr/>
        </p:nvSpPr>
        <p:spPr>
          <a:xfrm>
            <a:off x="11734800" y="3524250"/>
            <a:ext cx="5619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C4435-C937-4E99-8C6F-D5B5F7597A32}"/>
              </a:ext>
            </a:extLst>
          </p:cNvPr>
          <p:cNvSpPr>
            <a:spLocks noGrp="1"/>
          </p:cNvSpPr>
          <p:nvPr/>
        </p:nvSpPr>
        <p:spPr>
          <a:xfrm>
            <a:off x="1504950" y="388620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LLM (ChatGPT / Coze)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36110C52-D937-4BA0-8AF0-7A001373EE7E}"/>
              </a:ext>
            </a:extLst>
          </p:cNvPr>
          <p:cNvSpPr>
            <a:spLocks noGrp="1"/>
          </p:cNvSpPr>
          <p:nvPr/>
        </p:nvSpPr>
        <p:spPr>
          <a:xfrm>
            <a:off x="1504950" y="6124575"/>
            <a:ext cx="4476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77CEDC-BC6B-4D1E-9C11-687C49D6455D}"/>
              </a:ext>
            </a:extLst>
          </p:cNvPr>
          <p:cNvSpPr>
            <a:spLocks noGrp="1"/>
          </p:cNvSpPr>
          <p:nvPr/>
        </p:nvSpPr>
        <p:spPr>
          <a:xfrm>
            <a:off x="6477000" y="3886200"/>
            <a:ext cx="476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00" b="0" i="1">
                <a:solidFill>
                  <a:srgbClr val="1F2423"/>
                </a:solidFill>
              </a:defRPr>
            </a:pPr>
            <a:r>
              <a:rPr sz="2100" b="0" i="1">
                <a:solidFill>
                  <a:srgbClr val="1F2423"/>
                </a:solidFill>
              </a:rPr>
              <a:t>Concept brainstorming, grammar refinement, and initial prompt testing for the MVP Bot.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6AD0737A-0F9C-4546-9AFE-6AACD40D9C2D}"/>
              </a:ext>
            </a:extLst>
          </p:cNvPr>
          <p:cNvSpPr>
            <a:spLocks noGrp="1"/>
          </p:cNvSpPr>
          <p:nvPr/>
        </p:nvSpPr>
        <p:spPr>
          <a:xfrm>
            <a:off x="6477000" y="6124575"/>
            <a:ext cx="476250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E51820-F65E-4CD5-A6D4-029723306B98}"/>
              </a:ext>
            </a:extLst>
          </p:cNvPr>
          <p:cNvSpPr>
            <a:spLocks noGrp="1"/>
          </p:cNvSpPr>
          <p:nvPr/>
        </p:nvSpPr>
        <p:spPr>
          <a:xfrm>
            <a:off x="11734800" y="3886200"/>
            <a:ext cx="5619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00" b="0" i="1">
                <a:solidFill>
                  <a:srgbClr val="1F2423"/>
                </a:solidFill>
              </a:defRPr>
            </a:pPr>
            <a:r>
              <a:rPr sz="2100" b="0" i="1">
                <a:solidFill>
                  <a:srgbClr val="1F2423"/>
                </a:solidFill>
              </a:rPr>
              <a:t>100% Student-Driven: Core research canvas, industry matrix analysis, identity business model, and strategic narrative were conceptualized and authored by students.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E99373ED-057A-41D7-8893-321A24E16075}"/>
              </a:ext>
            </a:extLst>
          </p:cNvPr>
          <p:cNvSpPr>
            <a:spLocks noGrp="1"/>
          </p:cNvSpPr>
          <p:nvPr/>
        </p:nvSpPr>
        <p:spPr>
          <a:xfrm>
            <a:off x="11734800" y="6124575"/>
            <a:ext cx="5619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041BB3-47CC-4E1B-9A48-3B7F78DFDA07}"/>
              </a:ext>
            </a:extLst>
          </p:cNvPr>
          <p:cNvSpPr>
            <a:spLocks noGrp="1"/>
          </p:cNvSpPr>
          <p:nvPr/>
        </p:nvSpPr>
        <p:spPr>
          <a:xfrm>
            <a:off x="1504950" y="645795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UI / Code Generation</a:t>
            </a:r>
          </a:p>
          <a:p>
            <a:pPr algn="l">
              <a:lnSpc>
                <a:spcPct val="118000"/>
              </a:lnSpc>
              <a:buNone/>
              <a:defRPr sz="2175" b="1" i="0">
                <a:solidFill>
                  <a:srgbClr val="1F2423"/>
                </a:solidFill>
              </a:defRPr>
            </a:pPr>
            <a:r>
              <a:rPr sz="2175" b="1" i="0">
                <a:solidFill>
                  <a:srgbClr val="1F2423"/>
                </a:solidFill>
              </a:rPr>
              <a:t>(Codex / Figma)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F14AF305-60E1-4932-B853-C9CC93F87214}"/>
              </a:ext>
            </a:extLst>
          </p:cNvPr>
          <p:cNvSpPr>
            <a:spLocks noGrp="1"/>
          </p:cNvSpPr>
          <p:nvPr/>
        </p:nvSpPr>
        <p:spPr>
          <a:xfrm>
            <a:off x="1504950" y="9182100"/>
            <a:ext cx="4476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ACEDF4-473F-4C87-8D52-3832B112453F}"/>
              </a:ext>
            </a:extLst>
          </p:cNvPr>
          <p:cNvSpPr>
            <a:spLocks noGrp="1"/>
          </p:cNvSpPr>
          <p:nvPr/>
        </p:nvSpPr>
        <p:spPr>
          <a:xfrm>
            <a:off x="6477000" y="6457950"/>
            <a:ext cx="4762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00" b="0" i="1">
                <a:solidFill>
                  <a:srgbClr val="1F2423"/>
                </a:solidFill>
              </a:defRPr>
            </a:pPr>
            <a:r>
              <a:rPr sz="2100" b="0" i="1">
                <a:solidFill>
                  <a:srgbClr val="1F2423"/>
                </a:solidFill>
              </a:rPr>
              <a:t>Layout formatting and HTML/CSS template structure for PDF export.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C9D81FA3-E01A-49B1-B219-24B54C1CAE91}"/>
              </a:ext>
            </a:extLst>
          </p:cNvPr>
          <p:cNvSpPr>
            <a:spLocks noGrp="1"/>
          </p:cNvSpPr>
          <p:nvPr/>
        </p:nvSpPr>
        <p:spPr>
          <a:xfrm>
            <a:off x="6477000" y="9182100"/>
            <a:ext cx="476250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BC1A2B-E95A-4B1A-801B-396B293B15F9}"/>
              </a:ext>
            </a:extLst>
          </p:cNvPr>
          <p:cNvSpPr>
            <a:spLocks noGrp="1"/>
          </p:cNvSpPr>
          <p:nvPr/>
        </p:nvSpPr>
        <p:spPr>
          <a:xfrm>
            <a:off x="11734800" y="6457950"/>
            <a:ext cx="5619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18000"/>
              </a:lnSpc>
              <a:buNone/>
              <a:defRPr sz="2100" b="0" i="1">
                <a:solidFill>
                  <a:srgbClr val="1F2423"/>
                </a:solidFill>
              </a:defRPr>
            </a:pPr>
            <a:r>
              <a:rPr sz="2100" b="0" i="1">
                <a:solidFill>
                  <a:srgbClr val="1F2423"/>
                </a:solidFill>
              </a:rPr>
              <a:t>100% Student-Designed: Prototype workflow, Mrs. Chan's daily case scenario, pricing logic, and UI design decisions were defined and validated by the team.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EBB212BF-D8D2-40F2-B660-577A33475ABA}"/>
              </a:ext>
            </a:extLst>
          </p:cNvPr>
          <p:cNvSpPr>
            <a:spLocks noGrp="1"/>
          </p:cNvSpPr>
          <p:nvPr/>
        </p:nvSpPr>
        <p:spPr>
          <a:xfrm>
            <a:off x="11734800" y="9182100"/>
            <a:ext cx="5619750" cy="0"/>
          </a:xfrm>
          <a:prstGeom prst="line">
            <a:avLst/>
          </a:prstGeom>
          <a:noFill/>
          <a:ln w="19050">
            <a:solidFill>
              <a:srgbClr val="D9DFDC"/>
            </a:solidFill>
            <a:prstDash val="solid"/>
          </a:ln>
        </p:spPr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79171BC9-DC59-4430-A940-8A3FF1F22F32}"/>
              </a:ext>
            </a:extLst>
          </p:cNvPr>
          <p:cNvSpPr>
            <a:spLocks noGrp="1"/>
          </p:cNvSpPr>
          <p:nvPr/>
        </p:nvSpPr>
        <p:spPr>
          <a:xfrm>
            <a:off x="990600" y="9467850"/>
            <a:ext cx="16306800" cy="0"/>
          </a:xfrm>
          <a:prstGeom prst="line">
            <a:avLst/>
          </a:prstGeom>
          <a:noFill/>
          <a:ln w="9525">
            <a:solidFill>
              <a:srgbClr val="138AA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0FE2ED-846C-4662-8A16-33A83F491185}"/>
              </a:ext>
            </a:extLst>
          </p:cNvPr>
          <p:cNvSpPr>
            <a:spLocks noGrp="1"/>
          </p:cNvSpPr>
          <p:nvPr/>
        </p:nvSpPr>
        <p:spPr>
          <a:xfrm>
            <a:off x="990600" y="96393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Competition transparency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3A1A45-CE12-4573-A317-67436E36CBBB}"/>
              </a:ext>
            </a:extLst>
          </p:cNvPr>
          <p:cNvSpPr>
            <a:spLocks noGrp="1"/>
          </p:cNvSpPr>
          <p:nvPr/>
        </p:nvSpPr>
        <p:spPr>
          <a:xfrm>
            <a:off x="12192000" y="9639300"/>
            <a:ext cx="510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055"/>
          </a:bodyPr>
          <a:lstStyle/>
          <a:p>
            <a:pPr algn="r">
              <a:lnSpc>
                <a:spcPct val="112000"/>
              </a:lnSpc>
              <a:buNone/>
              <a:defRPr sz="1425" b="0" i="0">
                <a:solidFill>
                  <a:srgbClr val="6F7976"/>
                </a:solidFill>
              </a:defRPr>
            </a:pPr>
            <a:r>
              <a:rPr sz="1425" b="0" i="0">
                <a:solidFill>
                  <a:srgbClr val="6F7976"/>
                </a:solidFill>
              </a:rPr>
              <a:t>6:30-7:00 / 09</a:t>
            </a:r>
          </a:p>
        </p:txBody>
      </p:sp>
    </p:spTree>
    <p:extLst>
      <p:ext uri="{BB962C8B-B14F-4D97-AF65-F5344CB8AC3E}">
        <p14:creationId xmlns:p14="http://schemas.microsoft.com/office/powerpoint/2010/main" val="1990840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Macintosh PowerPoint</Application>
  <DocSecurity>0</DocSecurity>
  <PresentationFormat>Custom</PresentationFormat>
  <Paragraphs>183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Fukngai Guan</cp:lastModifiedBy>
  <cp:revision>1</cp:revision>
  <dcterms:created xsi:type="dcterms:W3CDTF">2026-08-12T18:48:18Z</dcterms:created>
  <dcterms:modified xsi:type="dcterms:W3CDTF">2026-08-12T18:51:07Z</dcterms:modified>
</cp:coreProperties>
</file>